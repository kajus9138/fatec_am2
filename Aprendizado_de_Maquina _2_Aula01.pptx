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iO3xxBoBoCEIS35W50WpMYS0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customschemas.google.com/relationships/presentationmetadata" Target="meta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meida Justino da Silva" userId="80cecd39-0bb3-4568-aadc-2c47a6d51773" providerId="ADAL" clId="{104D16F3-0830-409B-B338-B1F24D90F70E}"/>
    <pc:docChg chg="modSld">
      <pc:chgData name="Kaique Almeida Justino da Silva" userId="80cecd39-0bb3-4568-aadc-2c47a6d51773" providerId="ADAL" clId="{104D16F3-0830-409B-B338-B1F24D90F70E}" dt="2026-05-06T15:04:35.885" v="25" actId="207"/>
      <pc:docMkLst>
        <pc:docMk/>
      </pc:docMkLst>
      <pc:sldChg chg="modSp mod">
        <pc:chgData name="Kaique Almeida Justino da Silva" userId="80cecd39-0bb3-4568-aadc-2c47a6d51773" providerId="ADAL" clId="{104D16F3-0830-409B-B338-B1F24D90F70E}" dt="2026-05-06T15:04:35.885" v="25" actId="207"/>
        <pc:sldMkLst>
          <pc:docMk/>
          <pc:sldMk cId="0" sldId="263"/>
        </pc:sldMkLst>
        <pc:spChg chg="mod">
          <ac:chgData name="Kaique Almeida Justino da Silva" userId="80cecd39-0bb3-4568-aadc-2c47a6d51773" providerId="ADAL" clId="{104D16F3-0830-409B-B338-B1F24D90F70E}" dt="2026-05-06T15:04:35.885" v="25" actId="207"/>
          <ac:spMkLst>
            <pc:docMk/>
            <pc:sldMk cId="0" sldId="263"/>
            <ac:spMk id="3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lang="pt-BR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4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6eb4f487f_0_16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96eb4f487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6eb4f487f_0_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96eb4f48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6eb4f487f_0_3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396eb4f487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6eb4f487f_0_17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96eb4f487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6eb4f487f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6eb4f487f_0_29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96eb4f487f_0_29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6eb4f487f_0_9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96eb4f487f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6eb4f487f_0_1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396eb4f487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96eb4f487f_0_27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96eb4f487f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6eb4f487f_0_5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96eb4f48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6eb4f487f_0_7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396eb4f487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6eb4f487f_0_17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96eb4f487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6eb4f487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6eb4f487f_0_13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396eb4f487f_0_13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6eb4f487f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6eb4f487f_0_18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396eb4f487f_0_185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6eb4f487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6eb4f487f_0_20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g396eb4f487f_0_20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6eb4f487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96eb4f487f_0_21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96eb4f487f_0_21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96eb4f487f_0_2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96eb4f487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6eb4f487f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96eb4f487f_0_23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396eb4f487f_0_234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6eb4f487f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6eb4f487f_0_24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96eb4f487f_0_24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96eb4f487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96eb4f487f_0_26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396eb4f487f_0_267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6eb4f487f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6eb4f487f_0_25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96eb4f487f_0_25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96eb4f487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96eb4f487f_0_30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96eb4f487f_0_308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p4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5" name="Google Shape;95;p4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8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5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5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5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85" name="Google Shape;185;p5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5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2" name="Google Shape;192;p5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5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7" name="Google Shape;197;p5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9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5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2" name="Google Shape;202;p5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6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6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6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6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6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0" name="Google Shape;210;p6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61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6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6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8" name="Google Shape;218;p6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6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6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6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6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26" name="Google Shape;226;p6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6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63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6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6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33" name="Google Shape;233;p6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6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64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64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64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6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42" name="Google Shape;242;p6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6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5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65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65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65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65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6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6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53" name="Google Shape;253;p6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13;p27" descr="GGFD2166TRA Raw.tif"/>
          <p:cNvPicPr preferRelativeResize="0"/>
          <p:nvPr/>
        </p:nvPicPr>
        <p:blipFill rotWithShape="1">
          <a:blip r:embed="rId15">
            <a:alphaModFix/>
          </a:blip>
          <a:srcRect l="363" t="2153" r="9182" b="11112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16">
            <a:alphaModFix/>
          </a:blip>
          <a:srcRect l="28611" r="49359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17">
            <a:alphaModFix/>
          </a:blip>
          <a:srcRect l="26029" r="59601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17">
            <a:alphaModFix/>
          </a:blip>
          <a:srcRect l="46566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7" descr="Logotipo&#10;&#10;Descrição gerad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/>
          <p:nvPr/>
        </p:nvSpPr>
        <p:spPr>
          <a:xfrm>
            <a:off x="4212000" y="8640"/>
            <a:ext cx="4931640" cy="45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31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3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lang="pt-BR" sz="28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/>
          <p:nvPr/>
        </p:nvSpPr>
        <p:spPr>
          <a:xfrm>
            <a:off x="-2160" y="0"/>
            <a:ext cx="8229240" cy="35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"/>
          <p:cNvSpPr/>
          <p:nvPr/>
        </p:nvSpPr>
        <p:spPr>
          <a:xfrm>
            <a:off x="0" y="548640"/>
            <a:ext cx="8229240" cy="50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Apresentação do professor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Apresentação dos alunos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Objetivo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Atividade 1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Introdução ao Aprendizado de Máquina</a:t>
            </a: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Avaliação de Modelos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KNN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Regressão Logística (Introdução)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Apresentação do Professor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312480" y="518760"/>
            <a:ext cx="8229240" cy="485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48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Verdana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Formação Acadêmica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14480" marR="0" lvl="0" indent="0" algn="just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80880" marR="0" lvl="1" indent="-2858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Graduação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pt-BR" sz="1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Tecnologia em Automação Industrial – FATEC Osasco (2013 - 2016)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1969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</a:pPr>
            <a:endParaRPr sz="1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80880" marR="0" lvl="1" indent="-2858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Mestrado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✔"/>
            </a:pPr>
            <a:r>
              <a:rPr lang="pt-BR" sz="14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Computação Aplicada – Instituto de Pesquisas Tecnológicas – IPT (2021 - 2023)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1969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114480" marR="0" lvl="0" indent="0" algn="just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1969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Font typeface="Arial"/>
              <a:buNone/>
            </a:pPr>
            <a:endParaRPr sz="105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Font typeface="Arial"/>
              <a:buNone/>
            </a:pPr>
            <a:endParaRPr sz="105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80880" marR="0" lvl="1" indent="-19694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954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6920" y="6143760"/>
            <a:ext cx="1571400" cy="71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000" y="3540240"/>
            <a:ext cx="3600000" cy="23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29600" y="3729600"/>
            <a:ext cx="2030400" cy="20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Apresentação do Professor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263160" y="554400"/>
            <a:ext cx="8229240" cy="550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34308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✔"/>
            </a:pPr>
            <a:r>
              <a:rPr lang="pt-BR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Atuação Profissional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165280" algn="just" rtl="0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80880" marR="0" lvl="1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Áreas de Pesquisa:</a:t>
            </a: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Ciência de Dados aplicada a Engenharia Naval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Ciência de Dados aplicada a IoT e Sistemas Embarcados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158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80880" marR="0" lvl="1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Cargos: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Cientista de Dados (IPT)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285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lang="pt-B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 Fatec Cotia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81200" marR="0" lvl="2" indent="-1588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0" y="803520"/>
            <a:ext cx="9143640" cy="4991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8920" y="3780000"/>
            <a:ext cx="4501080" cy="224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Apresentação dos alunos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262800" y="1030320"/>
            <a:ext cx="8229240" cy="166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Nome e idade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Atuação profissional e formação acadêmica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que espera do curso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2240" y="6143760"/>
            <a:ext cx="1571400" cy="71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519600"/>
            <a:ext cx="7740000" cy="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Objetivo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62160" y="613260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 txBox="1"/>
          <p:nvPr/>
        </p:nvSpPr>
        <p:spPr>
          <a:xfrm>
            <a:off x="193825" y="1273750"/>
            <a:ext cx="85101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Aprofundar a programação de computadores aplicando os modelos de aprendizado de máquina para atender padrões ou comportamentos de forma automática, a partir de uma base de observações ou comportamentos. Aplicar a Teoria da aprendizagem (distorções de tendência / variância, validação cruzada, margens amplas). Utilizar os conhecimentos adquiridos em problemas de Ciência de Dados para fundamentar a tomada de decisões baseadas em informações obtidas por meio de algoritmos de aprendizado de máquina.  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Ementa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8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9" name="Google Shape;30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5480" y="61459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/>
          <p:nvPr/>
        </p:nvSpPr>
        <p:spPr>
          <a:xfrm>
            <a:off x="-36925" y="598448"/>
            <a:ext cx="9143700" cy="628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285840" marR="0" lvl="0" indent="-27949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✔"/>
            </a:pP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Apresentação / Introdução a disciplina</a:t>
            </a:r>
            <a:r>
              <a:rPr lang="pt-BR" sz="17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/ 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Avaliação de Modelos /</a:t>
            </a:r>
            <a:r>
              <a:rPr lang="pt-BR" sz="17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Regressão Logística / KNN  </a:t>
            </a:r>
            <a:r>
              <a:rPr lang="pt-BR" sz="17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i="0" u="none" strike="noStrike" cap="none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(07/04)</a:t>
            </a:r>
            <a:endParaRPr sz="1700" b="1" i="0" u="none" strike="noStrike" cap="none" dirty="0">
              <a:solidFill>
                <a:srgbClr val="A20000"/>
              </a:solidFill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✔"/>
            </a:pP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Árvores de Decisão / Floresta de Decisão / </a:t>
            </a:r>
            <a:r>
              <a:rPr lang="pt-BR" sz="1700" dirty="0" err="1">
                <a:latin typeface="Verdana"/>
                <a:ea typeface="Verdana"/>
                <a:cs typeface="Verdana"/>
                <a:sym typeface="Verdana"/>
              </a:rPr>
              <a:t>XGBoost</a:t>
            </a: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 / 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Laboratório para Atividade 1</a:t>
            </a: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(14/04)</a:t>
            </a:r>
            <a:endParaRPr sz="1700" b="1" dirty="0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Atividade 1 - Apresentação de Trabalhos / </a:t>
            </a:r>
            <a:r>
              <a:rPr lang="pt-BR" sz="17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Naive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Bayes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(28/04) </a:t>
            </a:r>
            <a:endParaRPr sz="1700" b="1" dirty="0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✔"/>
            </a:pP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K </a:t>
            </a:r>
            <a:r>
              <a:rPr lang="pt-BR" sz="1700" dirty="0" err="1">
                <a:latin typeface="Verdana"/>
                <a:ea typeface="Verdana"/>
                <a:cs typeface="Verdana"/>
                <a:sym typeface="Verdana"/>
              </a:rPr>
              <a:t>Means</a:t>
            </a: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 / DBSCAN / PCA / T-SNE </a:t>
            </a:r>
            <a:r>
              <a:rPr lang="pt-BR" sz="1700" b="1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(05/05)</a:t>
            </a:r>
            <a:endParaRPr sz="1700" b="1" dirty="0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P1 / </a:t>
            </a:r>
            <a:r>
              <a:rPr lang="pt-BR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Correção da P1</a:t>
            </a:r>
            <a:r>
              <a:rPr lang="pt-BR" sz="1700" dirty="0"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pt-BR" sz="1700" b="1" dirty="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(12/05)</a:t>
            </a:r>
            <a:endParaRPr sz="1700" b="1" dirty="0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Redes Neurais Feed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Forward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/ Redes Neurais Recorrentes 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(19/05) 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Laboratório para Atividade 2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(26/05)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Atividade 2 - Apresentação de Trabalhos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(02/06)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CNNs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/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GANs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/ Transformers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(09/06)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Redes de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Kohonen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 / RBF /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Adaptive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Resonance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Theory</a:t>
            </a: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(16/06) 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7949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SzPts val="1700"/>
              <a:buFont typeface="Verdana"/>
              <a:buChar char="✔"/>
            </a:pPr>
            <a:r>
              <a:rPr lang="pt-BR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P2 / Correção de P2 </a:t>
            </a:r>
            <a:r>
              <a:rPr lang="pt-BR" sz="17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(23/06)</a:t>
            </a:r>
            <a:endParaRPr sz="17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Sujeito a alteração</a:t>
            </a:r>
            <a:endParaRPr sz="24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1800" dirty="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0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p10"/>
          <p:cNvSpPr/>
          <p:nvPr/>
        </p:nvSpPr>
        <p:spPr>
          <a:xfrm>
            <a:off x="3960" y="2160"/>
            <a:ext cx="519444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lang="pt-BR" sz="24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Critérios de avaliação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60" y="6327360"/>
            <a:ext cx="1333080" cy="523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10"/>
          <p:cNvCxnSpPr/>
          <p:nvPr/>
        </p:nvCxnSpPr>
        <p:spPr>
          <a:xfrm rot="10800000" flipH="1">
            <a:off x="0" y="6560640"/>
            <a:ext cx="7752240" cy="10080"/>
          </a:xfrm>
          <a:prstGeom prst="straightConnector1">
            <a:avLst/>
          </a:prstGeom>
          <a:noFill/>
          <a:ln w="38100" cap="flat" cmpd="sng">
            <a:solidFill>
              <a:srgbClr val="BE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10"/>
          <p:cNvSpPr/>
          <p:nvPr/>
        </p:nvSpPr>
        <p:spPr>
          <a:xfrm>
            <a:off x="373680" y="620640"/>
            <a:ext cx="8742960" cy="508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 = </a:t>
            </a:r>
            <a:r>
              <a:rPr lang="pt-BR" sz="22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 + P1 + A2+ P2      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	           4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MS: Média do semestre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200"/>
              <a:buFont typeface="Calibri"/>
              <a:buNone/>
            </a:pPr>
            <a:r>
              <a:rPr lang="pt-BR" sz="2200" b="1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Aprovado:</a:t>
            </a:r>
            <a:r>
              <a:rPr lang="pt-BR" sz="22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 &gt;= 6,0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Calibri"/>
              <a:buNone/>
            </a:pPr>
            <a:r>
              <a:rPr lang="pt-BR" sz="2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Reprovado: </a:t>
            </a:r>
            <a:r>
              <a:rPr lang="pt-BR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 &lt;   6,0</a:t>
            </a: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2200"/>
              <a:buFont typeface="Arial"/>
              <a:buNone/>
            </a:pPr>
            <a:endParaRPr sz="2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560" y="6327360"/>
            <a:ext cx="1333080" cy="52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8000" y="3161520"/>
            <a:ext cx="2857320" cy="285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85875" y="119425"/>
            <a:ext cx="52941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200"/>
              <a:buFont typeface="Verdana"/>
              <a:buNone/>
            </a:pPr>
            <a:r>
              <a:rPr lang="pt-BR" sz="2100" b="0" i="0" u="none" strike="noStrike" cap="non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Atividade A1 </a:t>
            </a:r>
            <a:endParaRPr sz="2100" b="0" i="0" u="none" strike="noStrike" cap="none">
              <a:solidFill>
                <a:srgbClr val="A2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200"/>
              <a:buFont typeface="Verdana"/>
              <a:buNone/>
            </a:pPr>
            <a:r>
              <a:rPr lang="pt-BR" sz="21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Aplicação de Modelos Preditivos</a:t>
            </a:r>
            <a:endParaRPr sz="2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763640" y="4466880"/>
            <a:ext cx="2304000" cy="173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A2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Será realizado junto com a disciplina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Algoritmos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186160" y="3373560"/>
            <a:ext cx="287640" cy="1256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240125" y="1713430"/>
            <a:ext cx="9143700" cy="175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Problema de Classificação ou Regressão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Justificativa do problema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Demonstrativo da Análise Descritiva e Tratamentos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Engenharia de Features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Justificativa da escolha do modelo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pt-BR" sz="1800" dirty="0">
                <a:latin typeface="Verdana"/>
                <a:ea typeface="Verdana"/>
                <a:cs typeface="Verdana"/>
                <a:sym typeface="Verdana"/>
              </a:rPr>
              <a:t>Resultados alcançados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6eb4f487f_0_168"/>
          <p:cNvSpPr/>
          <p:nvPr/>
        </p:nvSpPr>
        <p:spPr>
          <a:xfrm>
            <a:off x="258445" y="13423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Modelos Preditivos - Revisão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g396eb4f487f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825" y="2179800"/>
            <a:ext cx="6814134" cy="37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749600" y="4818482"/>
            <a:ext cx="2304000" cy="17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A2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Será realizado junto com a disciplina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Algoritmos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5186160" y="3755042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663" y="3188331"/>
            <a:ext cx="4206474" cy="229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 txBox="1"/>
          <p:nvPr/>
        </p:nvSpPr>
        <p:spPr>
          <a:xfrm>
            <a:off x="1101075" y="4027607"/>
            <a:ext cx="72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Xi</a:t>
            </a:r>
            <a:endParaRPr sz="2500"/>
          </a:p>
        </p:txBody>
      </p:sp>
      <p:sp>
        <p:nvSpPr>
          <p:cNvPr id="346" name="Google Shape;346;p16"/>
          <p:cNvSpPr txBox="1"/>
          <p:nvPr/>
        </p:nvSpPr>
        <p:spPr>
          <a:xfrm>
            <a:off x="7209810" y="3880757"/>
            <a:ext cx="72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Yi</a:t>
            </a:r>
            <a:endParaRPr sz="2500"/>
          </a:p>
        </p:txBody>
      </p:sp>
      <p:sp>
        <p:nvSpPr>
          <p:cNvPr id="347" name="Google Shape;347;p16"/>
          <p:cNvSpPr/>
          <p:nvPr/>
        </p:nvSpPr>
        <p:spPr>
          <a:xfrm>
            <a:off x="48348" y="917050"/>
            <a:ext cx="62721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Aprendizado Supervisionado - Treinamento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3442500" y="1809850"/>
            <a:ext cx="172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Ser Humano</a:t>
            </a:r>
            <a:endParaRPr sz="1800"/>
          </a:p>
        </p:txBody>
      </p:sp>
      <p:cxnSp>
        <p:nvCxnSpPr>
          <p:cNvPr id="349" name="Google Shape;349;p16"/>
          <p:cNvCxnSpPr/>
          <p:nvPr/>
        </p:nvCxnSpPr>
        <p:spPr>
          <a:xfrm flipH="1">
            <a:off x="1378375" y="2271550"/>
            <a:ext cx="2133000" cy="16212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0" name="Google Shape;350;p16"/>
          <p:cNvCxnSpPr/>
          <p:nvPr/>
        </p:nvCxnSpPr>
        <p:spPr>
          <a:xfrm>
            <a:off x="4924575" y="2202200"/>
            <a:ext cx="2163900" cy="1671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16"/>
          <p:cNvCxnSpPr>
            <a:stCxn id="345" idx="3"/>
          </p:cNvCxnSpPr>
          <p:nvPr/>
        </p:nvCxnSpPr>
        <p:spPr>
          <a:xfrm>
            <a:off x="1829475" y="4312307"/>
            <a:ext cx="1343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2" name="Google Shape;352;p16"/>
          <p:cNvCxnSpPr/>
          <p:nvPr/>
        </p:nvCxnSpPr>
        <p:spPr>
          <a:xfrm rot="10800000">
            <a:off x="5392645" y="4304102"/>
            <a:ext cx="1747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53" name="Google Shape;353;p16"/>
          <p:cNvSpPr txBox="1"/>
          <p:nvPr/>
        </p:nvSpPr>
        <p:spPr>
          <a:xfrm>
            <a:off x="3806954" y="5360000"/>
            <a:ext cx="110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Modelo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6eb4f487f_0_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eb4f487f_0_9"/>
          <p:cNvSpPr/>
          <p:nvPr/>
        </p:nvSpPr>
        <p:spPr>
          <a:xfrm>
            <a:off x="1749600" y="4437000"/>
            <a:ext cx="2304000" cy="17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A2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Será realizado junto com a disciplina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Verdana"/>
              <a:buNone/>
            </a:pPr>
            <a:r>
              <a:rPr lang="pt-BR" sz="18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Algoritmos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96eb4f487f_0_9"/>
          <p:cNvSpPr/>
          <p:nvPr/>
        </p:nvSpPr>
        <p:spPr>
          <a:xfrm>
            <a:off x="5186160" y="3373560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96eb4f487f_0_9"/>
          <p:cNvSpPr/>
          <p:nvPr/>
        </p:nvSpPr>
        <p:spPr>
          <a:xfrm>
            <a:off x="48348" y="917050"/>
            <a:ext cx="62721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Aprendizado Supervisionado - Inferência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g396eb4f487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015" y="2365750"/>
            <a:ext cx="5629975" cy="30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96eb4f487f_0_9"/>
          <p:cNvSpPr txBox="1"/>
          <p:nvPr/>
        </p:nvSpPr>
        <p:spPr>
          <a:xfrm>
            <a:off x="1161775" y="3932232"/>
            <a:ext cx="72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Xi</a:t>
            </a:r>
            <a:endParaRPr sz="2500"/>
          </a:p>
        </p:txBody>
      </p:sp>
      <p:sp>
        <p:nvSpPr>
          <p:cNvPr id="364" name="Google Shape;364;g396eb4f487f_0_9"/>
          <p:cNvSpPr txBox="1"/>
          <p:nvPr/>
        </p:nvSpPr>
        <p:spPr>
          <a:xfrm>
            <a:off x="7487236" y="3867607"/>
            <a:ext cx="72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Ŷi</a:t>
            </a:r>
            <a:endParaRPr sz="2500"/>
          </a:p>
        </p:txBody>
      </p:sp>
      <p:sp>
        <p:nvSpPr>
          <p:cNvPr id="365" name="Google Shape;365;g396eb4f487f_0_9"/>
          <p:cNvSpPr txBox="1"/>
          <p:nvPr/>
        </p:nvSpPr>
        <p:spPr>
          <a:xfrm>
            <a:off x="4257804" y="5439150"/>
            <a:ext cx="110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Modelo</a:t>
            </a:r>
            <a:endParaRPr sz="1800"/>
          </a:p>
        </p:txBody>
      </p:sp>
      <p:cxnSp>
        <p:nvCxnSpPr>
          <p:cNvPr id="366" name="Google Shape;366;g396eb4f487f_0_9"/>
          <p:cNvCxnSpPr>
            <a:stCxn id="363" idx="3"/>
          </p:cNvCxnSpPr>
          <p:nvPr/>
        </p:nvCxnSpPr>
        <p:spPr>
          <a:xfrm>
            <a:off x="1890175" y="4216932"/>
            <a:ext cx="11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g396eb4f487f_0_9"/>
          <p:cNvCxnSpPr/>
          <p:nvPr/>
        </p:nvCxnSpPr>
        <p:spPr>
          <a:xfrm>
            <a:off x="6056800" y="4216932"/>
            <a:ext cx="1127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6eb4f487f_0_3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96eb4f487f_0_35"/>
          <p:cNvSpPr/>
          <p:nvPr/>
        </p:nvSpPr>
        <p:spPr>
          <a:xfrm>
            <a:off x="5186160" y="3373560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96eb4f487f_0_35"/>
          <p:cNvSpPr/>
          <p:nvPr/>
        </p:nvSpPr>
        <p:spPr>
          <a:xfrm>
            <a:off x="48351" y="91705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Problemas de Classificação x Problemas de Regressão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96eb4f487f_0_35"/>
          <p:cNvSpPr txBox="1"/>
          <p:nvPr/>
        </p:nvSpPr>
        <p:spPr>
          <a:xfrm>
            <a:off x="268800" y="2034150"/>
            <a:ext cx="59784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Previsão de Valores Contínuos = Regressão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Valor de uma casa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Tempo de vida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Temperatura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Previsão de Valores Discretos = Classificação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Falha de operação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Fraude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Crédito</a:t>
            </a:r>
            <a:endParaRPr sz="1800"/>
          </a:p>
        </p:txBody>
      </p:sp>
      <p:pic>
        <p:nvPicPr>
          <p:cNvPr id="376" name="Google Shape;376;g396eb4f487f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7150" y="3730224"/>
            <a:ext cx="2723176" cy="215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96eb4f487f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099" y="1793178"/>
            <a:ext cx="2723175" cy="174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eb4f487f_0_173"/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Modelos Preditivos - Avaliação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g396eb4f487f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925" y="1786025"/>
            <a:ext cx="6814134" cy="37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g396eb4f487f_0_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225" y="1038075"/>
            <a:ext cx="5977300" cy="47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96eb4f487f_0_29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96eb4f487f_0_299"/>
          <p:cNvSpPr txBox="1"/>
          <p:nvPr/>
        </p:nvSpPr>
        <p:spPr>
          <a:xfrm>
            <a:off x="1785950" y="5779100"/>
            <a:ext cx="499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Fonte: https://media.licdn.com/dms/image/v2/D4D22AQFwm3y8uCaFhg/feedshare-shrink_800/feedshare-shrink_800/0/1711634337379?e=2147483647&amp;v=beta&amp;t=d0UFFIIyB_pRwoISQ_5m5AA18OshxHIeUwFEMMJO9u8</a:t>
            </a:r>
            <a:endParaRPr sz="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6eb4f487f_0_9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96eb4f487f_0_97"/>
          <p:cNvSpPr/>
          <p:nvPr/>
        </p:nvSpPr>
        <p:spPr>
          <a:xfrm>
            <a:off x="5186160" y="3009418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96eb4f487f_0_97"/>
          <p:cNvSpPr/>
          <p:nvPr/>
        </p:nvSpPr>
        <p:spPr>
          <a:xfrm>
            <a:off x="0" y="552900"/>
            <a:ext cx="90603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Classificação - Matriz de Confusão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g396eb4f487f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75" y="1539225"/>
            <a:ext cx="8146650" cy="30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6eb4f487f_0_11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96eb4f487f_0_116"/>
          <p:cNvSpPr/>
          <p:nvPr/>
        </p:nvSpPr>
        <p:spPr>
          <a:xfrm>
            <a:off x="5186160" y="1890984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396eb4f487f_0_116"/>
          <p:cNvSpPr/>
          <p:nvPr/>
        </p:nvSpPr>
        <p:spPr>
          <a:xfrm>
            <a:off x="1" y="55290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Classificação - Métricas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96eb4f487f_0_116"/>
          <p:cNvSpPr txBox="1"/>
          <p:nvPr/>
        </p:nvSpPr>
        <p:spPr>
          <a:xfrm>
            <a:off x="182075" y="223432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Acurácia</a:t>
            </a:r>
            <a:endParaRPr/>
          </a:p>
        </p:txBody>
      </p:sp>
      <p:sp>
        <p:nvSpPr>
          <p:cNvPr id="408" name="Google Shape;408;g396eb4f487f_0_116"/>
          <p:cNvSpPr txBox="1"/>
          <p:nvPr/>
        </p:nvSpPr>
        <p:spPr>
          <a:xfrm>
            <a:off x="4003820" y="3005063"/>
            <a:ext cx="2496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acertos positivos / Confiabilidade</a:t>
            </a:r>
            <a:endParaRPr/>
          </a:p>
        </p:txBody>
      </p:sp>
      <p:pic>
        <p:nvPicPr>
          <p:cNvPr id="409" name="Google Shape;409;g396eb4f487f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000" y="3117781"/>
            <a:ext cx="22764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396eb4f487f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988" y="2060358"/>
            <a:ext cx="22764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96eb4f487f_0_116"/>
          <p:cNvSpPr txBox="1"/>
          <p:nvPr/>
        </p:nvSpPr>
        <p:spPr>
          <a:xfrm>
            <a:off x="3960470" y="2112379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acertos</a:t>
            </a:r>
            <a:endParaRPr/>
          </a:p>
        </p:txBody>
      </p:sp>
      <p:sp>
        <p:nvSpPr>
          <p:cNvPr id="412" name="Google Shape;412;g396eb4f487f_0_116"/>
          <p:cNvSpPr txBox="1"/>
          <p:nvPr/>
        </p:nvSpPr>
        <p:spPr>
          <a:xfrm>
            <a:off x="6326200" y="2095721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A20000"/>
                </a:solidFill>
              </a:rPr>
              <a:t>Dataset desbalanceado</a:t>
            </a:r>
            <a:endParaRPr b="1">
              <a:solidFill>
                <a:srgbClr val="A20000"/>
              </a:solidFill>
            </a:endParaRPr>
          </a:p>
        </p:txBody>
      </p:sp>
      <p:pic>
        <p:nvPicPr>
          <p:cNvPr id="413" name="Google Shape;413;g396eb4f487f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1000" y="4183846"/>
            <a:ext cx="22764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96eb4f487f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1000" y="5241241"/>
            <a:ext cx="22764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96eb4f487f_0_116"/>
          <p:cNvSpPr txBox="1"/>
          <p:nvPr/>
        </p:nvSpPr>
        <p:spPr>
          <a:xfrm>
            <a:off x="239100" y="327372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Precisão</a:t>
            </a:r>
            <a:endParaRPr/>
          </a:p>
        </p:txBody>
      </p:sp>
      <p:sp>
        <p:nvSpPr>
          <p:cNvPr id="416" name="Google Shape;416;g396eb4f487f_0_116"/>
          <p:cNvSpPr txBox="1"/>
          <p:nvPr/>
        </p:nvSpPr>
        <p:spPr>
          <a:xfrm>
            <a:off x="298800" y="4353471"/>
            <a:ext cx="11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Recall</a:t>
            </a:r>
            <a:endParaRPr/>
          </a:p>
        </p:txBody>
      </p:sp>
      <p:sp>
        <p:nvSpPr>
          <p:cNvPr id="417" name="Google Shape;417;g396eb4f487f_0_116"/>
          <p:cNvSpPr txBox="1"/>
          <p:nvPr/>
        </p:nvSpPr>
        <p:spPr>
          <a:xfrm>
            <a:off x="3974144" y="4053798"/>
            <a:ext cx="2496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Porcentagem de positivos que o modelo encontra / Sensibilidade</a:t>
            </a:r>
            <a:endParaRPr/>
          </a:p>
        </p:txBody>
      </p:sp>
      <p:sp>
        <p:nvSpPr>
          <p:cNvPr id="418" name="Google Shape;418;g396eb4f487f_0_116"/>
          <p:cNvSpPr txBox="1"/>
          <p:nvPr/>
        </p:nvSpPr>
        <p:spPr>
          <a:xfrm>
            <a:off x="455375" y="5415213"/>
            <a:ext cx="58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F1</a:t>
            </a:r>
            <a:endParaRPr/>
          </a:p>
        </p:txBody>
      </p:sp>
      <p:sp>
        <p:nvSpPr>
          <p:cNvPr id="419" name="Google Shape;419;g396eb4f487f_0_116"/>
          <p:cNvSpPr txBox="1"/>
          <p:nvPr/>
        </p:nvSpPr>
        <p:spPr>
          <a:xfrm>
            <a:off x="3974144" y="5379723"/>
            <a:ext cx="2496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Combinação de Precision e Recall</a:t>
            </a:r>
            <a:endParaRPr/>
          </a:p>
        </p:txBody>
      </p:sp>
      <p:pic>
        <p:nvPicPr>
          <p:cNvPr id="420" name="Google Shape;420;g396eb4f487f_0_1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6637" y="1119325"/>
            <a:ext cx="1235425" cy="9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96eb4f487f_0_27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96eb4f487f_0_276"/>
          <p:cNvSpPr/>
          <p:nvPr/>
        </p:nvSpPr>
        <p:spPr>
          <a:xfrm>
            <a:off x="1" y="55290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Classificação - Métricas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96eb4f487f_0_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675" y="1685187"/>
            <a:ext cx="4744075" cy="37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96eb4f487f_0_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00" y="2101125"/>
            <a:ext cx="3951874" cy="275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6eb4f487f_0_51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96eb4f487f_0_51"/>
          <p:cNvSpPr/>
          <p:nvPr/>
        </p:nvSpPr>
        <p:spPr>
          <a:xfrm>
            <a:off x="5186160" y="3373560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96eb4f487f_0_51"/>
          <p:cNvSpPr/>
          <p:nvPr/>
        </p:nvSpPr>
        <p:spPr>
          <a:xfrm>
            <a:off x="48351" y="91705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Regressão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96eb4f487f_0_51"/>
          <p:cNvSpPr txBox="1"/>
          <p:nvPr/>
        </p:nvSpPr>
        <p:spPr>
          <a:xfrm>
            <a:off x="875700" y="4409725"/>
            <a:ext cx="4993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37" name="Google Shape;437;g396eb4f487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875" y="1821575"/>
            <a:ext cx="24765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96eb4f487f_0_51"/>
          <p:cNvSpPr txBox="1"/>
          <p:nvPr/>
        </p:nvSpPr>
        <p:spPr>
          <a:xfrm>
            <a:off x="294775" y="1990775"/>
            <a:ext cx="71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MAE</a:t>
            </a:r>
            <a:endParaRPr/>
          </a:p>
        </p:txBody>
      </p:sp>
      <p:sp>
        <p:nvSpPr>
          <p:cNvPr id="439" name="Google Shape;439;g396eb4f487f_0_51"/>
          <p:cNvSpPr txBox="1"/>
          <p:nvPr/>
        </p:nvSpPr>
        <p:spPr>
          <a:xfrm>
            <a:off x="3921925" y="1852175"/>
            <a:ext cx="1989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Erro médio absoluto</a:t>
            </a:r>
            <a:endParaRPr/>
          </a:p>
        </p:txBody>
      </p:sp>
      <p:sp>
        <p:nvSpPr>
          <p:cNvPr id="440" name="Google Shape;440;g396eb4f487f_0_51"/>
          <p:cNvSpPr txBox="1"/>
          <p:nvPr/>
        </p:nvSpPr>
        <p:spPr>
          <a:xfrm>
            <a:off x="6075650" y="1990775"/>
            <a:ext cx="239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Fácil Interpretação</a:t>
            </a:r>
            <a:endParaRPr/>
          </a:p>
        </p:txBody>
      </p:sp>
      <p:sp>
        <p:nvSpPr>
          <p:cNvPr id="441" name="Google Shape;441;g396eb4f487f_0_51"/>
          <p:cNvSpPr txBox="1"/>
          <p:nvPr/>
        </p:nvSpPr>
        <p:spPr>
          <a:xfrm>
            <a:off x="216775" y="3303275"/>
            <a:ext cx="71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MSE</a:t>
            </a:r>
            <a:endParaRPr/>
          </a:p>
        </p:txBody>
      </p:sp>
      <p:pic>
        <p:nvPicPr>
          <p:cNvPr id="442" name="Google Shape;442;g396eb4f487f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875" y="3036350"/>
            <a:ext cx="22288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96eb4f487f_0_51"/>
          <p:cNvSpPr txBox="1"/>
          <p:nvPr/>
        </p:nvSpPr>
        <p:spPr>
          <a:xfrm>
            <a:off x="3958525" y="3066950"/>
            <a:ext cx="1989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Erro médio quadrático</a:t>
            </a:r>
            <a:endParaRPr/>
          </a:p>
        </p:txBody>
      </p:sp>
      <p:sp>
        <p:nvSpPr>
          <p:cNvPr id="444" name="Google Shape;444;g396eb4f487f_0_51"/>
          <p:cNvSpPr txBox="1"/>
          <p:nvPr/>
        </p:nvSpPr>
        <p:spPr>
          <a:xfrm>
            <a:off x="6141325" y="3009600"/>
            <a:ext cx="239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Penaliza muito erros grandes</a:t>
            </a:r>
            <a:endParaRPr/>
          </a:p>
        </p:txBody>
      </p:sp>
      <p:pic>
        <p:nvPicPr>
          <p:cNvPr id="445" name="Google Shape;445;g396eb4f487f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2875" y="4409725"/>
            <a:ext cx="22288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96eb4f487f_0_51"/>
          <p:cNvSpPr txBox="1"/>
          <p:nvPr/>
        </p:nvSpPr>
        <p:spPr>
          <a:xfrm>
            <a:off x="147775" y="4655825"/>
            <a:ext cx="85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RMSE</a:t>
            </a:r>
            <a:endParaRPr/>
          </a:p>
        </p:txBody>
      </p:sp>
      <p:sp>
        <p:nvSpPr>
          <p:cNvPr id="447" name="Google Shape;447;g396eb4f487f_0_51"/>
          <p:cNvSpPr txBox="1"/>
          <p:nvPr/>
        </p:nvSpPr>
        <p:spPr>
          <a:xfrm>
            <a:off x="4086650" y="4440325"/>
            <a:ext cx="1989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Raiz Quadrada do MSE</a:t>
            </a:r>
            <a:endParaRPr/>
          </a:p>
        </p:txBody>
      </p:sp>
      <p:sp>
        <p:nvSpPr>
          <p:cNvPr id="448" name="Google Shape;448;g396eb4f487f_0_51"/>
          <p:cNvSpPr txBox="1"/>
          <p:nvPr/>
        </p:nvSpPr>
        <p:spPr>
          <a:xfrm>
            <a:off x="6141325" y="4421855"/>
            <a:ext cx="239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Penaliza erros grandes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6eb4f487f_0_7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Avaliação de Modelos Preditivos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96eb4f487f_0_77"/>
          <p:cNvSpPr/>
          <p:nvPr/>
        </p:nvSpPr>
        <p:spPr>
          <a:xfrm>
            <a:off x="5186160" y="3373560"/>
            <a:ext cx="287700" cy="1257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96eb4f487f_0_77"/>
          <p:cNvSpPr/>
          <p:nvPr/>
        </p:nvSpPr>
        <p:spPr>
          <a:xfrm>
            <a:off x="48351" y="917050"/>
            <a:ext cx="78414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000">
                <a:solidFill>
                  <a:srgbClr val="FF9900"/>
                </a:solidFill>
                <a:latin typeface="Verdana"/>
                <a:ea typeface="Verdana"/>
                <a:cs typeface="Verdana"/>
                <a:sym typeface="Verdana"/>
              </a:rPr>
              <a:t>Avaliação de Modelos de Regressão</a:t>
            </a:r>
            <a:endParaRPr sz="2000" b="0" i="0" u="none" strike="noStrike" cap="non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96eb4f487f_0_77"/>
          <p:cNvSpPr txBox="1"/>
          <p:nvPr/>
        </p:nvSpPr>
        <p:spPr>
          <a:xfrm>
            <a:off x="875700" y="4409725"/>
            <a:ext cx="4993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457" name="Google Shape;457;g396eb4f487f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25" y="1499325"/>
            <a:ext cx="7009050" cy="45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6eb4f487f_0_179"/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KNN - K vizinhos próximos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g396eb4f487f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863" y="1502075"/>
            <a:ext cx="4360924" cy="436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6eb4f487f_0_13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KNN - Classificação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396eb4f487f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225" y="1987628"/>
            <a:ext cx="3574725" cy="27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96eb4f487f_0_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975" y="1394976"/>
            <a:ext cx="4821025" cy="40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6eb4f487f_0_185"/>
          <p:cNvSpPr/>
          <p:nvPr/>
        </p:nvSpPr>
        <p:spPr>
          <a:xfrm>
            <a:off x="83442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KNN - Classificação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g396eb4f487f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69" y="1343730"/>
            <a:ext cx="520065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96eb4f487f_0_185"/>
          <p:cNvSpPr txBox="1"/>
          <p:nvPr/>
        </p:nvSpPr>
        <p:spPr>
          <a:xfrm>
            <a:off x="5801744" y="3161270"/>
            <a:ext cx="26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0</a:t>
            </a:r>
            <a:endParaRPr sz="1800"/>
          </a:p>
        </p:txBody>
      </p:sp>
      <p:cxnSp>
        <p:nvCxnSpPr>
          <p:cNvPr id="480" name="Google Shape;480;g396eb4f487f_0_185"/>
          <p:cNvCxnSpPr/>
          <p:nvPr/>
        </p:nvCxnSpPr>
        <p:spPr>
          <a:xfrm flipH="1">
            <a:off x="5654394" y="3459195"/>
            <a:ext cx="239700" cy="1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Google Shape;481;g396eb4f487f_0_185"/>
          <p:cNvCxnSpPr/>
          <p:nvPr/>
        </p:nvCxnSpPr>
        <p:spPr>
          <a:xfrm flipH="1">
            <a:off x="5721969" y="3469770"/>
            <a:ext cx="167100" cy="17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Google Shape;482;g396eb4f487f_0_185"/>
          <p:cNvCxnSpPr/>
          <p:nvPr/>
        </p:nvCxnSpPr>
        <p:spPr>
          <a:xfrm rot="10800000" flipH="1">
            <a:off x="6014044" y="3413445"/>
            <a:ext cx="257400" cy="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3" name="Google Shape;483;g396eb4f487f_0_185"/>
          <p:cNvSpPr txBox="1"/>
          <p:nvPr/>
        </p:nvSpPr>
        <p:spPr>
          <a:xfrm>
            <a:off x="6572177" y="3106986"/>
            <a:ext cx="26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o</a:t>
            </a:r>
            <a:endParaRPr sz="1800"/>
          </a:p>
        </p:txBody>
      </p:sp>
      <p:cxnSp>
        <p:nvCxnSpPr>
          <p:cNvPr id="484" name="Google Shape;484;g396eb4f487f_0_185"/>
          <p:cNvCxnSpPr/>
          <p:nvPr/>
        </p:nvCxnSpPr>
        <p:spPr>
          <a:xfrm rot="10800000" flipH="1">
            <a:off x="6751794" y="3095195"/>
            <a:ext cx="209700" cy="2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g396eb4f487f_0_185"/>
          <p:cNvCxnSpPr/>
          <p:nvPr/>
        </p:nvCxnSpPr>
        <p:spPr>
          <a:xfrm rot="10800000" flipH="1">
            <a:off x="6767844" y="3238970"/>
            <a:ext cx="177600" cy="6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" name="Google Shape;486;g396eb4f487f_0_185"/>
          <p:cNvCxnSpPr/>
          <p:nvPr/>
        </p:nvCxnSpPr>
        <p:spPr>
          <a:xfrm flipH="1">
            <a:off x="6486819" y="3360895"/>
            <a:ext cx="181200" cy="8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7" name="Google Shape;487;g396eb4f487f_0_185"/>
          <p:cNvSpPr txBox="1"/>
          <p:nvPr/>
        </p:nvSpPr>
        <p:spPr>
          <a:xfrm>
            <a:off x="83450" y="2089100"/>
            <a:ext cx="3827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Hiperparâmetros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k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Métrica de distância</a:t>
            </a: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Complexidade Assintótica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O(n)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6eb4f487f_0_202"/>
          <p:cNvSpPr/>
          <p:nvPr/>
        </p:nvSpPr>
        <p:spPr>
          <a:xfrm>
            <a:off x="201492" y="893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KNN - Regressão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g396eb4f487f_0_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350" y="1447810"/>
            <a:ext cx="55435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96eb4f487f_0_219"/>
          <p:cNvSpPr/>
          <p:nvPr/>
        </p:nvSpPr>
        <p:spPr>
          <a:xfrm>
            <a:off x="228967" y="8021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KNN 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96eb4f487f_0_219"/>
          <p:cNvSpPr txBox="1"/>
          <p:nvPr/>
        </p:nvSpPr>
        <p:spPr>
          <a:xfrm>
            <a:off x="477275" y="1358328"/>
            <a:ext cx="3827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Prós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Simplicidade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Explicabilidade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Modela não linearidade</a:t>
            </a: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2" name="Google Shape;502;g396eb4f487f_0_219"/>
          <p:cNvSpPr txBox="1"/>
          <p:nvPr/>
        </p:nvSpPr>
        <p:spPr>
          <a:xfrm>
            <a:off x="4915900" y="1358328"/>
            <a:ext cx="3827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Contras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Custo de predição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Custo de memória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Maldição de Dimensionalidade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503" name="Google Shape;503;g396eb4f487f_0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305" y="3048752"/>
            <a:ext cx="2475374" cy="247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6eb4f487f_0_228"/>
          <p:cNvSpPr/>
          <p:nvPr/>
        </p:nvSpPr>
        <p:spPr>
          <a:xfrm>
            <a:off x="102770" y="701275"/>
            <a:ext cx="86271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lang="pt-BR" sz="3200" b="1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g396eb4f487f_0_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63" y="1557025"/>
            <a:ext cx="7988529" cy="43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6eb4f487f_0_23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g396eb4f487f_0_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363" y="1262060"/>
            <a:ext cx="54006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96eb4f487f_0_2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725" y="2500310"/>
            <a:ext cx="213360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6eb4f487f_0_24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g396eb4f487f_0_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888" y="919910"/>
            <a:ext cx="54006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96eb4f487f_0_26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g396eb4f487f_0_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625" y="648422"/>
            <a:ext cx="55054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96eb4f487f_0_2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1500" y="5253773"/>
            <a:ext cx="47434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6eb4f487f_0_25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g396eb4f487f_0_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900" y="831660"/>
            <a:ext cx="54006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g396eb4f487f_0_2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175" y="5409535"/>
            <a:ext cx="47434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6eb4f487f_0_308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sz="2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6013</TotalTime>
  <Words>704</Words>
  <Application>Microsoft Office PowerPoint</Application>
  <PresentationFormat>Apresentação na tela (4:3)</PresentationFormat>
  <Paragraphs>187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Arial</vt:lpstr>
      <vt:lpstr>Calibri</vt:lpstr>
      <vt:lpstr>Noto Sans Symbols</vt:lpstr>
      <vt:lpstr>Times New Roman</vt:lpstr>
      <vt:lpstr>Verdana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Akio Zukeran</dc:creator>
  <cp:lastModifiedBy>Kaique Almeida Justino da Silva</cp:lastModifiedBy>
  <cp:revision>2</cp:revision>
  <dcterms:created xsi:type="dcterms:W3CDTF">2013-10-10T17:31:52Z</dcterms:created>
  <dcterms:modified xsi:type="dcterms:W3CDTF">2026-05-06T15:04:36Z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