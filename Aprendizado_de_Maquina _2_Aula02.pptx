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55"/>
  </p:notesMasterIdLst>
  <p:sldIdLst>
    <p:sldId id="256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0" r:id="rId11"/>
    <p:sldId id="269" r:id="rId12"/>
    <p:sldId id="270" r:id="rId13"/>
    <p:sldId id="271" r:id="rId14"/>
    <p:sldId id="268" r:id="rId15"/>
    <p:sldId id="272" r:id="rId16"/>
    <p:sldId id="267" r:id="rId17"/>
    <p:sldId id="263" r:id="rId18"/>
    <p:sldId id="26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6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7" r:id="rId44"/>
    <p:sldId id="298" r:id="rId45"/>
    <p:sldId id="299" r:id="rId46"/>
    <p:sldId id="300" r:id="rId47"/>
    <p:sldId id="301" r:id="rId48"/>
    <p:sldId id="305" r:id="rId49"/>
    <p:sldId id="302" r:id="rId50"/>
    <p:sldId id="304" r:id="rId51"/>
    <p:sldId id="303" r:id="rId52"/>
    <p:sldId id="306" r:id="rId53"/>
    <p:sldId id="307" r:id="rId5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iSAmjDbxkneZCqAz6jdDATJmxq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eb4f487f_0_22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0" name="Google Shape;180;g396eb4f487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5</a:t>
            </a:fld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D07846A6-150D-7C2F-E810-14EEAA8A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B3ED38B2-D515-7117-EB56-C9FD6B874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69EE47F3-7EAF-BA8F-C0FC-E5023BD7D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F6DC5C16-889D-0B9E-774F-F2D494ECF0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501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E0E9B369-464E-6F48-E49E-9A32D783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A3085209-BC52-36AB-21F1-06170F5C7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E8EBA8BB-CF71-CF38-79C0-25A901C59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C5F0428C-B7BE-FCB3-CAF0-9D3DFFCA50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4221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EE6121F-B95E-A126-41F3-4F5C30E6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090DF518-53ED-0D49-3727-2A3B4BDDE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7D1174D8-3D18-12FA-AB89-2339C7E45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66665228-55C9-79E9-206E-1E1ADADA5E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634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8af1e20a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g3d58af1e2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368F3A2-AD26-0D16-65A3-19A425CF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222E78C8-408F-0D21-954E-8A787E2C2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1FD6CBDE-FF6E-7E26-DDE8-532DD8B64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44F34576-FA53-3616-A8BD-8EF15CE94F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8699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D1ACA4D-C6C6-A4FC-4200-85B5FC17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CFBEAC00-2CE8-F06C-D261-ACFFD030B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834FDBFB-9BB0-E00E-70A4-0DD258E59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C737CEE9-BA77-405B-5E8A-476AC5AFAC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7665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DBB1EACC-47BE-3E8E-6A3B-33FA6870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5A719649-9611-DC7F-1479-6D5546DBA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F6C1C7E6-D393-AFEC-FF37-032BEE979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B92DC2C2-54BD-C7FA-CD2B-5D009F446E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8908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D3A46BA3-9ECD-EC59-A821-B68D999C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8af1e20a_0_0:notes">
            <a:extLst>
              <a:ext uri="{FF2B5EF4-FFF2-40B4-BE49-F238E27FC236}">
                <a16:creationId xmlns:a16="http://schemas.microsoft.com/office/drawing/2014/main" id="{65EA51CA-B86B-D89B-012A-8D7F8F653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g3d58af1e20a_0_0:notes">
            <a:extLst>
              <a:ext uri="{FF2B5EF4-FFF2-40B4-BE49-F238E27FC236}">
                <a16:creationId xmlns:a16="http://schemas.microsoft.com/office/drawing/2014/main" id="{E03013A6-1059-1F6E-D446-E16719909B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780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47A418F0-A78E-7520-EE57-1AA68897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4856A3A2-4906-9EEE-22D0-BEFC656CF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BF693789-EE48-FF30-3544-23D0C1206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483F028B-1912-95C6-A75C-06FCD7EE91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6417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4B097E05-713E-AC1E-1EDE-63EC1B51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8af1e20a_0_0:notes">
            <a:extLst>
              <a:ext uri="{FF2B5EF4-FFF2-40B4-BE49-F238E27FC236}">
                <a16:creationId xmlns:a16="http://schemas.microsoft.com/office/drawing/2014/main" id="{B664A544-64BC-3AE1-2801-B5D18DB9B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g3d58af1e20a_0_0:notes">
            <a:extLst>
              <a:ext uri="{FF2B5EF4-FFF2-40B4-BE49-F238E27FC236}">
                <a16:creationId xmlns:a16="http://schemas.microsoft.com/office/drawing/2014/main" id="{66B6B0A5-5537-12AE-5633-7CFAE273C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876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92DEE633-C269-81D0-9D7C-C07302B4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FA1E23EE-0538-E04C-E2E4-8BAF3B85D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49457815-BC19-C894-E793-2EF26EEDD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F8C3EB1C-11BB-67E6-5AC3-C919654A3E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0776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b4f487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Google Shape;200;g396eb4f487f_0_30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g396eb4f487f_0_30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17</a:t>
            </a:fld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77C6B21A-75A5-7B34-E692-04A2E2DB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b4f487f_0_308:notes">
            <a:extLst>
              <a:ext uri="{FF2B5EF4-FFF2-40B4-BE49-F238E27FC236}">
                <a16:creationId xmlns:a16="http://schemas.microsoft.com/office/drawing/2014/main" id="{72FE5703-6DB9-4B34-FCBD-BD512D6EE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Google Shape;200;g396eb4f487f_0_308:notes">
            <a:extLst>
              <a:ext uri="{FF2B5EF4-FFF2-40B4-BE49-F238E27FC236}">
                <a16:creationId xmlns:a16="http://schemas.microsoft.com/office/drawing/2014/main" id="{D2EC99E0-13FC-052A-2B22-7C33C1A20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g396eb4f487f_0_308:notes">
            <a:extLst>
              <a:ext uri="{FF2B5EF4-FFF2-40B4-BE49-F238E27FC236}">
                <a16:creationId xmlns:a16="http://schemas.microsoft.com/office/drawing/2014/main" id="{19287D47-61E4-A937-57D6-A0134DC695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0169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550BC466-B0DC-7C9D-62AA-49C23831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b4f487f_0_308:notes">
            <a:extLst>
              <a:ext uri="{FF2B5EF4-FFF2-40B4-BE49-F238E27FC236}">
                <a16:creationId xmlns:a16="http://schemas.microsoft.com/office/drawing/2014/main" id="{07BED9AE-7CBE-9AD0-C5E2-A6BC8A60D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Google Shape;200;g396eb4f487f_0_308:notes">
            <a:extLst>
              <a:ext uri="{FF2B5EF4-FFF2-40B4-BE49-F238E27FC236}">
                <a16:creationId xmlns:a16="http://schemas.microsoft.com/office/drawing/2014/main" id="{1DEB819A-ADA1-D97C-8E82-4718CB018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g396eb4f487f_0_308:notes">
            <a:extLst>
              <a:ext uri="{FF2B5EF4-FFF2-40B4-BE49-F238E27FC236}">
                <a16:creationId xmlns:a16="http://schemas.microsoft.com/office/drawing/2014/main" id="{60F7A9AC-A646-A84F-9F00-769C5CD899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6356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BC832AD2-4209-8425-A864-234BF15E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b4f487f_0_308:notes">
            <a:extLst>
              <a:ext uri="{FF2B5EF4-FFF2-40B4-BE49-F238E27FC236}">
                <a16:creationId xmlns:a16="http://schemas.microsoft.com/office/drawing/2014/main" id="{21285ED7-1E8A-80CA-0F30-BE37E0DFA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Google Shape;200;g396eb4f487f_0_308:notes">
            <a:extLst>
              <a:ext uri="{FF2B5EF4-FFF2-40B4-BE49-F238E27FC236}">
                <a16:creationId xmlns:a16="http://schemas.microsoft.com/office/drawing/2014/main" id="{DFF1733D-77C9-A9CD-01C9-28FE01464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g396eb4f487f_0_308:notes">
            <a:extLst>
              <a:ext uri="{FF2B5EF4-FFF2-40B4-BE49-F238E27FC236}">
                <a16:creationId xmlns:a16="http://schemas.microsoft.com/office/drawing/2014/main" id="{DF2E07F8-1F29-AAB8-5DBD-B43096EEE5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96817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53FAF926-90AE-848C-F663-7FEAE045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b4f487f_0_308:notes">
            <a:extLst>
              <a:ext uri="{FF2B5EF4-FFF2-40B4-BE49-F238E27FC236}">
                <a16:creationId xmlns:a16="http://schemas.microsoft.com/office/drawing/2014/main" id="{3707F52F-855C-9A94-707E-464BAFA18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Google Shape;200;g396eb4f487f_0_308:notes">
            <a:extLst>
              <a:ext uri="{FF2B5EF4-FFF2-40B4-BE49-F238E27FC236}">
                <a16:creationId xmlns:a16="http://schemas.microsoft.com/office/drawing/2014/main" id="{D07385F4-5DA2-A3F9-6472-B03C415E6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g396eb4f487f_0_308:notes">
            <a:extLst>
              <a:ext uri="{FF2B5EF4-FFF2-40B4-BE49-F238E27FC236}">
                <a16:creationId xmlns:a16="http://schemas.microsoft.com/office/drawing/2014/main" id="{2E43A059-30C7-B65B-E5E8-E3234E6AC2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23705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E184265C-323B-B9AC-702B-7DDD0B63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b4f487f_0_308:notes">
            <a:extLst>
              <a:ext uri="{FF2B5EF4-FFF2-40B4-BE49-F238E27FC236}">
                <a16:creationId xmlns:a16="http://schemas.microsoft.com/office/drawing/2014/main" id="{15D2B089-F166-C300-C844-A34529C05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Google Shape;200;g396eb4f487f_0_308:notes">
            <a:extLst>
              <a:ext uri="{FF2B5EF4-FFF2-40B4-BE49-F238E27FC236}">
                <a16:creationId xmlns:a16="http://schemas.microsoft.com/office/drawing/2014/main" id="{F5540B38-64CF-5C85-36B3-E68A7A769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g396eb4f487f_0_308:notes">
            <a:extLst>
              <a:ext uri="{FF2B5EF4-FFF2-40B4-BE49-F238E27FC236}">
                <a16:creationId xmlns:a16="http://schemas.microsoft.com/office/drawing/2014/main" id="{33112666-9731-CCA9-7EA8-0D02AC7C5B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3502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C5A67D6-D30B-FA94-969A-1A98F52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8af1e20a_0_0:notes">
            <a:extLst>
              <a:ext uri="{FF2B5EF4-FFF2-40B4-BE49-F238E27FC236}">
                <a16:creationId xmlns:a16="http://schemas.microsoft.com/office/drawing/2014/main" id="{DE2C13FA-4D76-F47F-004C-366FD54E4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g3d58af1e20a_0_0:notes">
            <a:extLst>
              <a:ext uri="{FF2B5EF4-FFF2-40B4-BE49-F238E27FC236}">
                <a16:creationId xmlns:a16="http://schemas.microsoft.com/office/drawing/2014/main" id="{29E1311A-FB74-E17F-51EE-F12A51AD1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2359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E2645867-DAFC-BD14-8B12-39849592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14082D91-BD9B-3E19-0057-F6113C9B64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D02528EB-C503-E2FC-430C-221064BF7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2B289F07-E40A-26BA-2BC3-8EFAC55C76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91646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E422CDE-B205-B24D-5C62-B9A1DD52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13354A05-064C-94D3-D5F2-A7C339BB1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58FF8E7D-F8CD-91FD-C8FF-CA7765FBD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BC69356B-D600-2B81-BDED-802B8881F4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7171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68B2B0CE-DF16-9B01-2214-FC75D786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DCD6BA05-2A49-9D39-D87A-97B059EE6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39291F0E-007B-574E-10B2-3D6C35B13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9EB47AB4-366B-AF13-A60C-5212B49CCB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1434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84CE1C3-ED98-FDDC-E773-2D8DA381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33B0AB12-EDA1-0BD7-90EF-87208B886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17B2D1A9-50C6-9DD3-7BA7-060243CE2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7819CE73-0F24-C1BD-B142-5C7D48661C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5382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4E54B68-5DCA-34A0-209A-A2C276B7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4669D0C1-F983-4BCD-C63B-F0FBFEFC2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D71165EE-54DD-DFB5-0ED7-B461C31BB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94EA72DD-C63C-57F5-2844-AFDF623FBF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94224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6131150-EE16-C401-BA2C-D22A77DD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E7264042-711F-B8F3-509C-39AA20784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501C427D-BBD8-1829-EFB5-A99C758ED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00A58318-4905-B735-6E97-C33CD63C32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8370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2BCBD303-119D-3722-6B93-C1405BC2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21728DCE-4EBF-1155-08DE-336CDE21D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BDFEA53F-49CE-3C83-7582-9B9FE2217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9C4FDE43-4F82-8037-7BC9-F501022A67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186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594B4ED2-F828-8617-1A46-6770B71E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37F1ADDF-4F29-6CDD-B6F4-91EA75F15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130BA356-1D21-4715-A096-312F018A4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633DC18D-4ECC-A1B2-EE93-39B52798EE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5410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AAC2DEA-F6F1-805F-8406-B1CA8BE7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CD6AC2DB-376F-ED88-12AB-4C317447D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81E7732C-09A8-E9F5-E2B4-02F3409DBC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552D334F-8C97-E393-9325-38BC6C84C7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1657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566F1454-6C3F-C2C3-3EBF-790986B6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8E15F701-8CD3-BA46-9330-47AADBE62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CFB13D3D-233B-B290-6752-0B50A2E3E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8B9161CA-C6B9-A061-D8F4-188853BE2E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34096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638DBD6F-9C91-1B6F-8E94-4D3575FA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4A14CEE5-59A6-9C08-3A61-395D2B6E3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EE1AE966-8EE8-B8A2-36FE-4EFD6067D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9371F0FB-8572-192E-CF39-FE58EAC480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56738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D6FF0FC0-469F-B53B-DAA6-5378F4D4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9C761E81-54F1-5550-F09B-2E024CE15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715FBFD6-B640-DEEA-D364-06A198EEE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81608004-05EA-7AF1-87E8-E11B855B88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32231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73936C31-6277-B462-76FA-71F58AB1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D6738862-FF8C-89E3-964D-C2B48D8FA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4DCEAAF9-6FB3-FEE8-C856-6C93CCEDC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1E8C9857-42D3-42BA-EFCA-0C10FD3A57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5597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87AB73D-70E9-7310-61BE-4F26E7F2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BC06BB1E-6631-5736-F72D-B3B0030DE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4CE2E7DA-E05E-53F3-ED16-2C458C576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52C79839-0FEE-D528-D7E3-6F676821F1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16846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89255E7-39CC-C78D-7B7A-6CCFEE43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0B86BC70-1246-8AF7-1D6D-67C699F80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4E1F1422-BB71-FBBF-D530-0B1DF25416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A4CB1385-AF55-27DE-0C73-4551C32BF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42830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7BC9194-B034-0C7B-EE66-F31512FA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2DFAE267-B60E-8D1A-1A76-CA4D7CC9F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4E6204E5-5284-BD80-2954-A495B3E5C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6822156B-9155-73BA-0F76-6FC5562F4D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68486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455D6E64-9453-B65B-11F5-37A0BBBE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39308772-4ED0-7AE3-FAAA-531C8D4CB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50CEAEF6-7B4D-001B-30DD-19FDA2C9B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A37948AA-46A8-D67D-93EE-D4F9C4C981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6809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518D716A-3C9E-1545-0DEB-CB8B605B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918BF491-4778-1390-4306-7116FBD2F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32283551-7358-26DA-C441-EC43EA78E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7852D771-045F-E441-2779-3FBA748101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1014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ADF78B3D-36FC-A4F7-7AD3-48014B9C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872AF2EC-AB5E-4DAF-AC3F-69BA5F0CE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0214C15C-11D4-D796-714E-FAF5E18DD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249B4D94-A12D-D15B-757A-782496E7EA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78788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574DAB7-D5CD-BF93-2778-70A2B8B9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eb4f487f_0_228:notes">
            <a:extLst>
              <a:ext uri="{FF2B5EF4-FFF2-40B4-BE49-F238E27FC236}">
                <a16:creationId xmlns:a16="http://schemas.microsoft.com/office/drawing/2014/main" id="{057C6A7A-DC02-2165-00DD-E2CAD7C76B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0" name="Google Shape;180;g396eb4f487f_0_228:notes">
            <a:extLst>
              <a:ext uri="{FF2B5EF4-FFF2-40B4-BE49-F238E27FC236}">
                <a16:creationId xmlns:a16="http://schemas.microsoft.com/office/drawing/2014/main" id="{582086A5-4048-7C39-4357-2B08A0F53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3309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A233ACA0-08CC-C97E-994A-100E4263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6F20FD9F-43B1-3715-7078-EDBE7E6AE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EB9DA45D-7BE2-4A90-5B23-505CF6920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50261DA9-9D33-21A9-3935-E22026C6D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68431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6A879973-6AFF-5831-477B-3930DE82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959FD629-D039-A46D-4E54-EB35ABF96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D46CA199-D14E-C964-0E87-517E8CF16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6FC702D8-2AC8-069A-9F76-9B0B474A02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61205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D581F7C7-18E1-F800-4F57-A38AD08F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F828D871-7267-A80C-AEEC-2C6AC1884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84A1D81E-8119-4575-859B-3DD9D0F98F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4BD49D66-F946-A5E4-5DDC-8836E910E5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73812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BDEC59C2-FB56-28B8-E68A-272232D7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2B76634A-8CAD-3886-B9CA-3C5E9CD96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2E84DDCE-1790-DC40-9ACA-A507A9DA0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29D1614F-0DDC-94F3-B6ED-64592111ED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34283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6E09CB0A-A494-5F98-718B-242754905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99B659B4-2869-3120-DB08-CFB180794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70BD8DC7-34AF-CA0B-2ECA-D975F80C5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5172FACE-7B3D-14D1-5169-BBBB278FB6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0804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A8C7FB5A-DB29-22D6-2BAE-7AFC4AB1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E584787E-0F3B-3EB7-8B98-38CE77DB9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8C7B7E38-B047-794A-0155-47D7DBA40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2E697141-D2E4-176E-39F6-60BE2423ED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1698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24DBD2C2-9ED3-0791-4A44-A8196350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E058A56E-19BB-0539-D284-651FB1C2C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CD9644C3-FC9C-05A0-039E-8F5B95E6A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A284881A-9921-20FD-EC2D-B8F9082686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50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81804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D702D2-3B4E-D9BB-1C0B-64001975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2DE4A7D4-FE49-E533-F436-79B39E006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29E77E1F-1ADE-A686-144A-C567A2548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59BC0C78-84F0-73AA-7444-59DAAAD0E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51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69581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33D4F79-DEB3-F6E6-8CA1-D5616E8C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eb4f487f_0_259:notes">
            <a:extLst>
              <a:ext uri="{FF2B5EF4-FFF2-40B4-BE49-F238E27FC236}">
                <a16:creationId xmlns:a16="http://schemas.microsoft.com/office/drawing/2014/main" id="{33E2F2D8-546E-650F-6EE0-EBE6BFE0F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2" name="Google Shape;192;g396eb4f487f_0_259:notes">
            <a:extLst>
              <a:ext uri="{FF2B5EF4-FFF2-40B4-BE49-F238E27FC236}">
                <a16:creationId xmlns:a16="http://schemas.microsoft.com/office/drawing/2014/main" id="{015B49B0-7573-D934-43DE-D528765CC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396eb4f487f_0_259:notes">
            <a:extLst>
              <a:ext uri="{FF2B5EF4-FFF2-40B4-BE49-F238E27FC236}">
                <a16:creationId xmlns:a16="http://schemas.microsoft.com/office/drawing/2014/main" id="{AB454A07-B697-315F-6106-BC07DF7551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52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2991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/>
          <p:nvPr/>
        </p:nvSpPr>
        <p:spPr>
          <a:xfrm>
            <a:off x="-2160" y="0"/>
            <a:ext cx="8229240" cy="35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0" y="548640"/>
            <a:ext cx="8229240" cy="508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Preparando o Terreno: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○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○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Entropia Cruzada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○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Função de Custo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3" indent="-343080">
              <a:spcBef>
                <a:spcPts val="479"/>
              </a:spcBef>
              <a:buSzPts val="2400"/>
              <a:buFont typeface="Noto Sans Symbols"/>
              <a:buChar char="✔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Árvore de Decisão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Modelo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s Ensemble (Random Forest e </a:t>
            </a: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XGBoost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lvl="6" indent="-343080">
              <a:spcBef>
                <a:spcPts val="479"/>
              </a:spcBef>
              <a:buSzPts val="2400"/>
              <a:buFont typeface="Noto Sans Symbols"/>
              <a:buChar char="✔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6eb4f487f_0_228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96eb4f487f_0_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00" y="1562725"/>
            <a:ext cx="8593825" cy="469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2DB6BA0D-4B27-0F8B-047F-38914335D632}"/>
              </a:ext>
            </a:extLst>
          </p:cNvPr>
          <p:cNvSpPr/>
          <p:nvPr/>
        </p:nvSpPr>
        <p:spPr>
          <a:xfrm>
            <a:off x="383459" y="1444600"/>
            <a:ext cx="8229240" cy="127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Medida de confusão, incerteza ou desordem.</a:t>
            </a:r>
          </a:p>
          <a:p>
            <a:pPr marL="343080" lvl="4" indent="-343080"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Muitos modelos baseiam-se nessa métrica.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483752D-CA77-78C0-F6D5-8F97CBFC0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979" y="2723536"/>
            <a:ext cx="5978013" cy="32633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84C5BF2-D1A1-E7CF-26EF-4488D63C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144A0290-90A7-673C-B238-D46F453E87B6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6EBD8DCB-E619-BCFF-8B00-4143518AF00C}"/>
              </a:ext>
            </a:extLst>
          </p:cNvPr>
          <p:cNvSpPr/>
          <p:nvPr/>
        </p:nvSpPr>
        <p:spPr>
          <a:xfrm>
            <a:off x="344130" y="656103"/>
            <a:ext cx="8229240" cy="68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Fórmula matemática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226D04-1E3E-838C-19DC-2A1580991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356" y="1089840"/>
            <a:ext cx="5298231" cy="74645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B1F04F0-E1C1-C686-CF54-5059A82B7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887" y="1778841"/>
            <a:ext cx="3353091" cy="86113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ED5536F-9B0E-454F-1464-E53B1C1A1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696" y="2836900"/>
            <a:ext cx="5662608" cy="368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66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111CAA3-B9F5-894B-D8E2-2568A2B7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B2B20707-9A8E-7C48-6558-5BE9500D7A04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BBC3754B-79F7-FDA2-B084-7370436172BF}"/>
              </a:ext>
            </a:extLst>
          </p:cNvPr>
          <p:cNvSpPr/>
          <p:nvPr/>
        </p:nvSpPr>
        <p:spPr>
          <a:xfrm>
            <a:off x="363794" y="884160"/>
            <a:ext cx="8229240" cy="68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Exemplo: Moeda Justa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0B5D3C8-B9DA-728E-38FD-1A65C14CB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99135"/>
              </p:ext>
            </p:extLst>
          </p:nvPr>
        </p:nvGraphicFramePr>
        <p:xfrm>
          <a:off x="1334025" y="3914057"/>
          <a:ext cx="29252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638">
                  <a:extLst>
                    <a:ext uri="{9D8B030D-6E8A-4147-A177-3AD203B41FA5}">
                      <a16:colId xmlns:a16="http://schemas.microsoft.com/office/drawing/2014/main" val="2721218293"/>
                    </a:ext>
                  </a:extLst>
                </a:gridCol>
                <a:gridCol w="1462638">
                  <a:extLst>
                    <a:ext uri="{9D8B030D-6E8A-4147-A177-3AD203B41FA5}">
                      <a16:colId xmlns:a16="http://schemas.microsoft.com/office/drawing/2014/main" val="168506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Probabilidade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50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9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098890"/>
                  </a:ext>
                </a:extLst>
              </a:tr>
            </a:tbl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FA85BAEB-5D48-F071-86DB-E0CE676F2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204" y="1794158"/>
            <a:ext cx="4267796" cy="356284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A521A3E-F119-B7B7-943E-05767E0A3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309" y="1794158"/>
            <a:ext cx="2112707" cy="21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41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CB7CBFB-B99A-0F32-371B-B6CBFCB7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CC9A5004-5424-444A-CC26-76126023F656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07B255D5-0027-6DE9-0762-086089F4708D}"/>
              </a:ext>
            </a:extLst>
          </p:cNvPr>
          <p:cNvSpPr/>
          <p:nvPr/>
        </p:nvSpPr>
        <p:spPr>
          <a:xfrm>
            <a:off x="153177" y="769989"/>
            <a:ext cx="8229240" cy="68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Exemplo: Moeda Viciada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4A769A5-8840-D2B3-18FB-776ECD566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332705"/>
              </p:ext>
            </p:extLst>
          </p:nvPr>
        </p:nvGraphicFramePr>
        <p:xfrm>
          <a:off x="1373969" y="3633919"/>
          <a:ext cx="29252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638">
                  <a:extLst>
                    <a:ext uri="{9D8B030D-6E8A-4147-A177-3AD203B41FA5}">
                      <a16:colId xmlns:a16="http://schemas.microsoft.com/office/drawing/2014/main" val="2721218293"/>
                    </a:ext>
                  </a:extLst>
                </a:gridCol>
                <a:gridCol w="1462638">
                  <a:extLst>
                    <a:ext uri="{9D8B030D-6E8A-4147-A177-3AD203B41FA5}">
                      <a16:colId xmlns:a16="http://schemas.microsoft.com/office/drawing/2014/main" val="168506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Probabilidade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50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9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098890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6D36C328-743B-D3BA-6936-4AB7BAFC1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036" y="1179827"/>
            <a:ext cx="3470787" cy="490818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0C1F468-6933-5A9F-0414-89E1CEB8A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986" y="1384790"/>
            <a:ext cx="2249129" cy="224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6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58af1e20a_0_0"/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Entropia Cruzada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A93F3A8-1DF9-57A6-5927-B8F27D291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4" y="1699885"/>
            <a:ext cx="7541342" cy="41168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499247F6-2716-FC13-2A1D-9D817F08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89B61DBB-13B3-D88F-28B2-15E4BC22AE52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 Cruzada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A40CED3D-3AC4-7232-94E6-D6B55BD35933}"/>
              </a:ext>
            </a:extLst>
          </p:cNvPr>
          <p:cNvSpPr/>
          <p:nvPr/>
        </p:nvSpPr>
        <p:spPr>
          <a:xfrm>
            <a:off x="383459" y="1444600"/>
            <a:ext cx="8229240" cy="127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Métrica que quantifica a diferença entre uma distribuição prevista </a:t>
            </a:r>
            <a:r>
              <a:rPr lang="pt-BR" sz="2400" b="1" dirty="0"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e uma distribuição real </a:t>
            </a:r>
            <a:r>
              <a:rPr lang="pt-BR" sz="2400" b="1" dirty="0"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8C0999-9F0C-7407-995D-A2A115B1A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958" y="2780070"/>
            <a:ext cx="6108242" cy="167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89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88ADDEA-9D33-17F4-57D2-5A4B6BB0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20BFD86B-4EAC-1847-64AF-744682737A66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 Cruzada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3B4C46C5-3602-663D-786A-E146F722B9FE}"/>
              </a:ext>
            </a:extLst>
          </p:cNvPr>
          <p:cNvSpPr/>
          <p:nvPr/>
        </p:nvSpPr>
        <p:spPr>
          <a:xfrm>
            <a:off x="457380" y="707181"/>
            <a:ext cx="8229240" cy="127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numérico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2F19448-ABCF-D307-26F7-C237C3876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895430"/>
              </p:ext>
            </p:extLst>
          </p:nvPr>
        </p:nvGraphicFramePr>
        <p:xfrm>
          <a:off x="963561" y="1355211"/>
          <a:ext cx="2969342" cy="992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98274448"/>
                    </a:ext>
                  </a:extLst>
                </a:gridCol>
                <a:gridCol w="465394">
                  <a:extLst>
                    <a:ext uri="{9D8B030D-6E8A-4147-A177-3AD203B41FA5}">
                      <a16:colId xmlns:a16="http://schemas.microsoft.com/office/drawing/2014/main" val="19393609"/>
                    </a:ext>
                  </a:extLst>
                </a:gridCol>
                <a:gridCol w="471948">
                  <a:extLst>
                    <a:ext uri="{9D8B030D-6E8A-4147-A177-3AD203B41FA5}">
                      <a16:colId xmlns:a16="http://schemas.microsoft.com/office/drawing/2014/main" val="1892490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215560"/>
                  </a:ext>
                </a:extLst>
              </a:tr>
              <a:tr h="37280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32453"/>
                  </a:ext>
                </a:extLst>
              </a:tr>
              <a:tr h="3146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818847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00FC452D-0A67-1362-B902-26933BC9D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102" y="2809239"/>
            <a:ext cx="2200582" cy="8954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084573-DB20-FFE2-89F4-F6EF2DBE0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42" y="3842406"/>
            <a:ext cx="3191320" cy="66684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985D858-4BC9-FE78-6F9D-803B29365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983" y="4619436"/>
            <a:ext cx="3896269" cy="50489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639FCA3-E1EE-9FEE-09A5-E4A80C90E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7247" y="5265131"/>
            <a:ext cx="2391109" cy="39058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F28E1DB-9D31-99EC-7EB7-C68597044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2674" y="5842462"/>
            <a:ext cx="1886213" cy="390580"/>
          </a:xfrm>
          <a:prstGeom prst="rect">
            <a:avLst/>
          </a:prstGeom>
        </p:spPr>
      </p:pic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E488F205-8BB3-C171-1177-A734C9B6B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558561"/>
              </p:ext>
            </p:extLst>
          </p:nvPr>
        </p:nvGraphicFramePr>
        <p:xfrm>
          <a:off x="5717278" y="1355211"/>
          <a:ext cx="2969342" cy="992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98274448"/>
                    </a:ext>
                  </a:extLst>
                </a:gridCol>
                <a:gridCol w="465394">
                  <a:extLst>
                    <a:ext uri="{9D8B030D-6E8A-4147-A177-3AD203B41FA5}">
                      <a16:colId xmlns:a16="http://schemas.microsoft.com/office/drawing/2014/main" val="19393609"/>
                    </a:ext>
                  </a:extLst>
                </a:gridCol>
                <a:gridCol w="471948">
                  <a:extLst>
                    <a:ext uri="{9D8B030D-6E8A-4147-A177-3AD203B41FA5}">
                      <a16:colId xmlns:a16="http://schemas.microsoft.com/office/drawing/2014/main" val="1892490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215560"/>
                  </a:ext>
                </a:extLst>
              </a:tr>
              <a:tr h="37280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32453"/>
                  </a:ext>
                </a:extLst>
              </a:tr>
              <a:tr h="31463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818847"/>
                  </a:ext>
                </a:extLst>
              </a:tr>
            </a:tbl>
          </a:graphicData>
        </a:graphic>
      </p:graphicFrame>
      <p:pic>
        <p:nvPicPr>
          <p:cNvPr id="17" name="Imagem 16">
            <a:extLst>
              <a:ext uri="{FF2B5EF4-FFF2-40B4-BE49-F238E27FC236}">
                <a16:creationId xmlns:a16="http://schemas.microsoft.com/office/drawing/2014/main" id="{D86736A6-1484-C549-BA52-8CBBFEBAFC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1631" y="2747317"/>
            <a:ext cx="2400635" cy="101931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C3C8C74-AA28-72F0-5E00-721922719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288" y="3842406"/>
            <a:ext cx="3191320" cy="66684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078D901-DBB4-5167-0C60-4ACCFCD4A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2892" y="4587481"/>
            <a:ext cx="3658111" cy="39058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FDADFD8-CBE4-5F46-D0AB-1A8695C668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3050" y="5089449"/>
            <a:ext cx="2457793" cy="53347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7FFEFB31-088C-A176-D40D-5A054F746B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2576" y="5610633"/>
            <a:ext cx="2000529" cy="457264"/>
          </a:xfrm>
          <a:prstGeom prst="rect">
            <a:avLst/>
          </a:prstGeom>
        </p:spPr>
      </p:pic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CFC5A93B-5396-0D35-8C14-048273284831}"/>
              </a:ext>
            </a:extLst>
          </p:cNvPr>
          <p:cNvCxnSpPr/>
          <p:nvPr/>
        </p:nvCxnSpPr>
        <p:spPr>
          <a:xfrm>
            <a:off x="4857133" y="2809239"/>
            <a:ext cx="0" cy="3650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81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F54B1364-0DC8-CE26-2A87-955C66B0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B5B872FE-9849-2614-4998-CF2F4EF35402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Entropia Cruzada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D62714DD-66C8-7866-DD22-D192F0B1288B}"/>
              </a:ext>
            </a:extLst>
          </p:cNvPr>
          <p:cNvSpPr/>
          <p:nvPr/>
        </p:nvSpPr>
        <p:spPr>
          <a:xfrm>
            <a:off x="457380" y="1395439"/>
            <a:ext cx="8229240" cy="127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Por que entropia cruzada?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146" name="Picture 2" descr="Saída do gráfico">
            <a:extLst>
              <a:ext uri="{FF2B5EF4-FFF2-40B4-BE49-F238E27FC236}">
                <a16:creationId xmlns:a16="http://schemas.microsoft.com/office/drawing/2014/main" id="{0E885D06-A6E2-78D2-28D4-6CD3BAB87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65" y="2101644"/>
            <a:ext cx="6405716" cy="400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858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9804CEE-098A-2D8B-317C-85B069F8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58af1e20a_0_0">
            <a:extLst>
              <a:ext uri="{FF2B5EF4-FFF2-40B4-BE49-F238E27FC236}">
                <a16:creationId xmlns:a16="http://schemas.microsoft.com/office/drawing/2014/main" id="{400BB0B0-F3DE-77B0-ED1A-41759F054F30}"/>
              </a:ext>
            </a:extLst>
          </p:cNvPr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Função de Custo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4C76BF-C158-D25F-81F9-7C5A31F7D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22" y="1950398"/>
            <a:ext cx="7010400" cy="382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07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E400F076-B7C7-10D2-F328-26FE6F1B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DACFBA7F-229E-5986-9F7A-83577707EE51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Função de Custo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6B1C1452-C5E2-D71C-7186-2487F113E595}"/>
              </a:ext>
            </a:extLst>
          </p:cNvPr>
          <p:cNvSpPr/>
          <p:nvPr/>
        </p:nvSpPr>
        <p:spPr>
          <a:xfrm>
            <a:off x="383459" y="1444599"/>
            <a:ext cx="8229240" cy="469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Função que mede o quão errado um modelo está.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Pode ser usada para comparar modelos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É utilizada para direcionar treinamentos</a:t>
            </a:r>
          </a:p>
          <a:p>
            <a:pPr lvl="8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361FA19-5405-B595-028B-6EE6518E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77" y="3456189"/>
            <a:ext cx="2076740" cy="33342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DC46277-DA41-B4F5-E832-9B442BE94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401" y="4100336"/>
            <a:ext cx="3229426" cy="69542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F64B7A0-9786-F888-4AF9-B93C612D3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439" y="3456189"/>
            <a:ext cx="1867161" cy="32389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1B7A35E-F25A-B739-039D-D7F917A058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407" y="3992181"/>
            <a:ext cx="1543265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1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18637816-61CA-4A2A-5CEE-313AF561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58af1e20a_0_0">
            <a:extLst>
              <a:ext uri="{FF2B5EF4-FFF2-40B4-BE49-F238E27FC236}">
                <a16:creationId xmlns:a16="http://schemas.microsoft.com/office/drawing/2014/main" id="{47D030D7-6A30-138E-9B5A-037537FD1F1B}"/>
              </a:ext>
            </a:extLst>
          </p:cNvPr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d58af1e20a_0_0">
            <a:extLst>
              <a:ext uri="{FF2B5EF4-FFF2-40B4-BE49-F238E27FC236}">
                <a16:creationId xmlns:a16="http://schemas.microsoft.com/office/drawing/2014/main" id="{D6EC2A7B-5A8A-2BED-70EF-E66E8C405E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063" y="1557025"/>
            <a:ext cx="7988529" cy="4360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0478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E7AA953-05A4-B15E-19AA-D1732F45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6EFB7F1D-9F3C-AA3E-D103-5116361ACE2F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96eb4f487f_0_259">
            <a:extLst>
              <a:ext uri="{FF2B5EF4-FFF2-40B4-BE49-F238E27FC236}">
                <a16:creationId xmlns:a16="http://schemas.microsoft.com/office/drawing/2014/main" id="{5C3C8E2C-CBD0-47D1-C146-011919A2F8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900" y="831660"/>
            <a:ext cx="54006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96eb4f487f_0_259">
            <a:extLst>
              <a:ext uri="{FF2B5EF4-FFF2-40B4-BE49-F238E27FC236}">
                <a16:creationId xmlns:a16="http://schemas.microsoft.com/office/drawing/2014/main" id="{901979E1-4DFB-54D3-3462-4424F24B82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6175" y="5409535"/>
            <a:ext cx="474345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010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g396eb4f487f_0_259">
            <a:extLst>
              <a:ext uri="{FF2B5EF4-FFF2-40B4-BE49-F238E27FC236}">
                <a16:creationId xmlns:a16="http://schemas.microsoft.com/office/drawing/2014/main" id="{C9981BED-E4D6-A4F2-05A2-7BC64A0DD178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3C8B947D-1994-6282-4BDF-1ADECD989573}"/>
              </a:ext>
            </a:extLst>
          </p:cNvPr>
          <p:cNvSpPr/>
          <p:nvPr/>
        </p:nvSpPr>
        <p:spPr>
          <a:xfrm>
            <a:off x="349226" y="625096"/>
            <a:ext cx="3347704" cy="71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Função de custo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Picture 2" descr="Saída do gráfico">
            <a:extLst>
              <a:ext uri="{FF2B5EF4-FFF2-40B4-BE49-F238E27FC236}">
                <a16:creationId xmlns:a16="http://schemas.microsoft.com/office/drawing/2014/main" id="{D2FDC1B5-6939-5247-3750-F6C2BD2B6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078" y="1970005"/>
            <a:ext cx="5609304" cy="350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8CDB25-A391-E3B3-AC38-0BD51B284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272" y="1115738"/>
            <a:ext cx="6014365" cy="9631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2C8F847-5C14-7EA7-130E-B906D360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g396eb4f487f_0_259">
            <a:extLst>
              <a:ext uri="{FF2B5EF4-FFF2-40B4-BE49-F238E27FC236}">
                <a16:creationId xmlns:a16="http://schemas.microsoft.com/office/drawing/2014/main" id="{3C04BFA8-7ABB-8634-7D1F-0CC555863578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4213217A-0E2E-9A45-9914-AF792041A146}"/>
              </a:ext>
            </a:extLst>
          </p:cNvPr>
          <p:cNvSpPr/>
          <p:nvPr/>
        </p:nvSpPr>
        <p:spPr>
          <a:xfrm>
            <a:off x="349225" y="625096"/>
            <a:ext cx="6690671" cy="71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Otimização da Função de custo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4CA82C-EBF8-9BBB-C37C-1BC1EE51A45A}"/>
              </a:ext>
            </a:extLst>
          </p:cNvPr>
          <p:cNvSpPr txBox="1"/>
          <p:nvPr/>
        </p:nvSpPr>
        <p:spPr>
          <a:xfrm>
            <a:off x="162867" y="1667390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Função de Custo: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752F11-029C-DEC0-E620-B7C3E1F62C42}"/>
              </a:ext>
            </a:extLst>
          </p:cNvPr>
          <p:cNvSpPr txBox="1"/>
          <p:nvPr/>
        </p:nvSpPr>
        <p:spPr>
          <a:xfrm>
            <a:off x="162867" y="3228944"/>
            <a:ext cx="2576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Gradiente da função: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C39B49-B567-ADC2-6BB7-785D495F65F0}"/>
              </a:ext>
            </a:extLst>
          </p:cNvPr>
          <p:cNvSpPr txBox="1"/>
          <p:nvPr/>
        </p:nvSpPr>
        <p:spPr>
          <a:xfrm>
            <a:off x="162867" y="4590443"/>
            <a:ext cx="2678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Regra de atualização: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6B91EED-329D-8C48-ECB3-1291B176E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805" y="1585903"/>
            <a:ext cx="6014365" cy="9631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9497960-39DE-CAB9-885D-3863DB3A1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404" y="3095579"/>
            <a:ext cx="5125165" cy="106694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A1B4B80-C6F4-96B9-A209-51F5A79C7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897" y="4594178"/>
            <a:ext cx="3179001" cy="79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41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AD4EA00-18DE-660B-9BC8-91693DBF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2EC8E50-6D0C-654E-8D01-8853AD34A59F}"/>
              </a:ext>
            </a:extLst>
          </p:cNvPr>
          <p:cNvSpPr/>
          <p:nvPr/>
        </p:nvSpPr>
        <p:spPr>
          <a:xfrm>
            <a:off x="3125774" y="1179341"/>
            <a:ext cx="3130245" cy="49301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1"/>
          </a:p>
        </p:txBody>
      </p:sp>
      <p:sp>
        <p:nvSpPr>
          <p:cNvPr id="4" name="Google Shape;195;g396eb4f487f_0_259">
            <a:extLst>
              <a:ext uri="{FF2B5EF4-FFF2-40B4-BE49-F238E27FC236}">
                <a16:creationId xmlns:a16="http://schemas.microsoft.com/office/drawing/2014/main" id="{714033C1-6006-11D0-E6E1-B5FE1478805B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noProof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lang="pt-BR" sz="26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AE62BF80-8E90-0F1F-3977-675E1DC849DF}"/>
              </a:ext>
            </a:extLst>
          </p:cNvPr>
          <p:cNvSpPr/>
          <p:nvPr/>
        </p:nvSpPr>
        <p:spPr>
          <a:xfrm>
            <a:off x="349225" y="625096"/>
            <a:ext cx="6690671" cy="71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noProof="1">
                <a:latin typeface="Verdana"/>
                <a:ea typeface="Verdana"/>
                <a:cs typeface="Verdana"/>
                <a:sym typeface="Verdana"/>
              </a:rPr>
              <a:t>Pseudo código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noProof="1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80EE94-8AFE-AF83-35BC-F4979A833319}"/>
              </a:ext>
            </a:extLst>
          </p:cNvPr>
          <p:cNvSpPr txBox="1"/>
          <p:nvPr/>
        </p:nvSpPr>
        <p:spPr>
          <a:xfrm>
            <a:off x="3187195" y="1236248"/>
            <a:ext cx="275640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noProof="1">
                <a:solidFill>
                  <a:schemeClr val="bg1"/>
                </a:solidFill>
              </a:rPr>
              <a:t>entrada: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X → matriz de atributos (n × m)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y → vetor de rótulos (0 ou 1)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α → taxa de aprendizado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N → número de iterações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inicializar: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w ← vetor de pesos aleatórios (m)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b ← 0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para iter = 1 até N: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    # combinação linear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z = X·w + b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    # função sigmoide (probabilidade)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p = 1 / (1 + exp(-z))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    # função de custo (entropia cruzada)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custo = - média( y*log(p) + (1-y)*log(1-p) )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    # gradientes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dw = (1/n) * Xᵀ (p - y)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db = (1/n) * soma(p - y)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    # atualização dos parâmetros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w = w - α * dw</a:t>
            </a:r>
          </a:p>
          <a:p>
            <a:r>
              <a:rPr lang="pt-BR" sz="1000" noProof="1">
                <a:solidFill>
                  <a:schemeClr val="bg1"/>
                </a:solidFill>
              </a:rPr>
              <a:t>    b = b - α * db</a:t>
            </a:r>
          </a:p>
          <a:p>
            <a:endParaRPr lang="pt-BR" sz="1000" noProof="1">
              <a:solidFill>
                <a:schemeClr val="bg1"/>
              </a:solidFill>
            </a:endParaRPr>
          </a:p>
          <a:p>
            <a:r>
              <a:rPr lang="pt-BR" sz="1000" noProof="1">
                <a:solidFill>
                  <a:schemeClr val="bg1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105838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1506792-4C1B-06B8-968E-B3AF4095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g396eb4f487f_0_259">
            <a:extLst>
              <a:ext uri="{FF2B5EF4-FFF2-40B4-BE49-F238E27FC236}">
                <a16:creationId xmlns:a16="http://schemas.microsoft.com/office/drawing/2014/main" id="{30855C10-6276-E4D9-234C-829D374E9F7F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noProof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lang="pt-BR" sz="26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847DABBE-3425-43C6-76BA-36767E96AD40}"/>
              </a:ext>
            </a:extLst>
          </p:cNvPr>
          <p:cNvSpPr/>
          <p:nvPr/>
        </p:nvSpPr>
        <p:spPr>
          <a:xfrm>
            <a:off x="349225" y="625096"/>
            <a:ext cx="6690671" cy="71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noProof="1">
                <a:latin typeface="Verdana"/>
                <a:ea typeface="Verdana"/>
                <a:cs typeface="Verdana"/>
                <a:sym typeface="Verdana"/>
              </a:rPr>
              <a:t>Exemplo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noProof="1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2E6C50-247D-E30D-6E8D-ABD023FC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0" y="1032043"/>
            <a:ext cx="4899663" cy="239695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29B6D62-2FF1-D1FB-3112-2CCC2AE47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105" y="3803487"/>
            <a:ext cx="4957178" cy="158953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585D39F-7BB4-9228-6848-6BA359F60EBF}"/>
              </a:ext>
            </a:extLst>
          </p:cNvPr>
          <p:cNvSpPr txBox="1"/>
          <p:nvPr/>
        </p:nvSpPr>
        <p:spPr>
          <a:xfrm>
            <a:off x="1935480" y="2186241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noProof="1"/>
              <a:t>Dataset</a:t>
            </a:r>
            <a:endParaRPr lang="pt-BR" sz="20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87CF2F-A92D-14B7-4216-3F11C0896880}"/>
              </a:ext>
            </a:extLst>
          </p:cNvPr>
          <p:cNvSpPr txBox="1"/>
          <p:nvPr/>
        </p:nvSpPr>
        <p:spPr>
          <a:xfrm>
            <a:off x="1950720" y="4335081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Treino</a:t>
            </a:r>
          </a:p>
        </p:txBody>
      </p:sp>
    </p:spTree>
    <p:extLst>
      <p:ext uri="{BB962C8B-B14F-4D97-AF65-F5344CB8AC3E}">
        <p14:creationId xmlns:p14="http://schemas.microsoft.com/office/powerpoint/2010/main" val="342484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24E8A1D4-7215-738D-2C68-AF7EACE3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g396eb4f487f_0_259">
            <a:extLst>
              <a:ext uri="{FF2B5EF4-FFF2-40B4-BE49-F238E27FC236}">
                <a16:creationId xmlns:a16="http://schemas.microsoft.com/office/drawing/2014/main" id="{6ED161A4-59D3-69D5-BB6F-A23B47DDCEDC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noProof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lang="pt-BR" sz="26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C4EDBFCA-9212-9782-8A37-53AF2D164853}"/>
              </a:ext>
            </a:extLst>
          </p:cNvPr>
          <p:cNvSpPr/>
          <p:nvPr/>
        </p:nvSpPr>
        <p:spPr>
          <a:xfrm>
            <a:off x="349225" y="625096"/>
            <a:ext cx="6690671" cy="71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noProof="1">
                <a:latin typeface="Verdana"/>
                <a:ea typeface="Verdana"/>
                <a:cs typeface="Verdana"/>
                <a:sym typeface="Verdana"/>
              </a:rPr>
              <a:t>Exemplo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noProof="1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DFBC42-C307-CAD9-6583-82AC95AEE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260" y="829045"/>
            <a:ext cx="4572638" cy="190526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8487D04-B0A2-788F-B137-96F14A04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854123"/>
            <a:ext cx="3177540" cy="282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614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AA8FE273-E198-0DB0-E651-FB77B9E2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g396eb4f487f_0_259">
            <a:extLst>
              <a:ext uri="{FF2B5EF4-FFF2-40B4-BE49-F238E27FC236}">
                <a16:creationId xmlns:a16="http://schemas.microsoft.com/office/drawing/2014/main" id="{B95461C7-0CAB-FE13-34F6-66699EE7C210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noProof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lang="pt-BR" sz="26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2E8F5DB1-AAD4-EF3F-DA31-08D45B6BF053}"/>
              </a:ext>
            </a:extLst>
          </p:cNvPr>
          <p:cNvSpPr/>
          <p:nvPr/>
        </p:nvSpPr>
        <p:spPr>
          <a:xfrm>
            <a:off x="349225" y="625096"/>
            <a:ext cx="6690671" cy="71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noProof="1">
                <a:latin typeface="Verdana"/>
                <a:ea typeface="Verdana"/>
                <a:cs typeface="Verdana"/>
                <a:sym typeface="Verdana"/>
              </a:rPr>
              <a:t>Exemplo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noProof="1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lang="pt-BR" sz="2400" b="0" i="0" u="none" strike="noStrike" cap="none" noProof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D2599E-3AF7-472D-6855-99FDE51FB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1285105"/>
            <a:ext cx="7162800" cy="428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07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E0287E48-02F8-9A49-184D-6B81BADA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58af1e20a_0_0">
            <a:extLst>
              <a:ext uri="{FF2B5EF4-FFF2-40B4-BE49-F238E27FC236}">
                <a16:creationId xmlns:a16="http://schemas.microsoft.com/office/drawing/2014/main" id="{4FF0EF99-39C0-0870-2CA2-2C94141608B2}"/>
              </a:ext>
            </a:extLst>
          </p:cNvPr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Árvore de Decisão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86352D1-9DCC-C804-606B-7E09494CB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282" y="1965960"/>
            <a:ext cx="6588048" cy="359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33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AAB9BBA-E650-4A6F-D7C0-9CED64E9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23ED9478-41DC-6556-0C44-346DF84FB74C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0BEF394C-DE95-83D7-34FB-57A08D491118}"/>
              </a:ext>
            </a:extLst>
          </p:cNvPr>
          <p:cNvSpPr/>
          <p:nvPr/>
        </p:nvSpPr>
        <p:spPr>
          <a:xfrm>
            <a:off x="217028" y="627535"/>
            <a:ext cx="8229240" cy="184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Algoritmo que cria regras em forma de árvore para realizar classificações ou regressões.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B20E17D-6266-D35D-2242-A20A56CAE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2" y="1744980"/>
            <a:ext cx="7559148" cy="412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4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55E4A2B-E274-1F31-61D4-2037A8E0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198DE98F-821A-E63B-1EBA-6D897E1EC8E4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A34C2613-EF05-27E2-A2DC-C0AE326A4C8F}"/>
              </a:ext>
            </a:extLst>
          </p:cNvPr>
          <p:cNvSpPr/>
          <p:nvPr/>
        </p:nvSpPr>
        <p:spPr>
          <a:xfrm>
            <a:off x="255640" y="903826"/>
            <a:ext cx="8229240" cy="105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Treinamento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F919CA-5198-FC56-4594-6C0428C0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5" y="1543483"/>
            <a:ext cx="8592749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0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6F55F32-4456-5017-C374-0CC37996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5EA19AC-3B6F-87E3-DA20-2BAD7C481B5F}"/>
              </a:ext>
            </a:extLst>
          </p:cNvPr>
          <p:cNvSpPr/>
          <p:nvPr/>
        </p:nvSpPr>
        <p:spPr>
          <a:xfrm>
            <a:off x="2708166" y="1269875"/>
            <a:ext cx="3619156" cy="49301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1"/>
          </a:p>
        </p:txBody>
      </p:sp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D88301EA-2A72-509A-F796-36F57CB99615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E1ECE3BA-EAEB-BE56-E575-870EE571755E}"/>
              </a:ext>
            </a:extLst>
          </p:cNvPr>
          <p:cNvSpPr/>
          <p:nvPr/>
        </p:nvSpPr>
        <p:spPr>
          <a:xfrm>
            <a:off x="196646" y="587660"/>
            <a:ext cx="8229240" cy="105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noProof="1">
                <a:latin typeface="Verdana"/>
                <a:ea typeface="Verdana"/>
                <a:cs typeface="Verdana"/>
                <a:sym typeface="Verdana"/>
              </a:rPr>
              <a:t>Pseudo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código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A541E2-E520-5636-9F1C-ACB8C6369E7A}"/>
              </a:ext>
            </a:extLst>
          </p:cNvPr>
          <p:cNvSpPr txBox="1"/>
          <p:nvPr/>
        </p:nvSpPr>
        <p:spPr>
          <a:xfrm>
            <a:off x="2979178" y="1982450"/>
            <a:ext cx="315615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começar com todos os dados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enquanto não parar: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    testar todos os splits possíveis</a:t>
            </a:r>
          </a:p>
          <a:p>
            <a:r>
              <a:rPr lang="pt-BR" dirty="0">
                <a:solidFill>
                  <a:schemeClr val="bg1"/>
                </a:solidFill>
              </a:rPr>
              <a:t>    </a:t>
            </a:r>
          </a:p>
          <a:p>
            <a:r>
              <a:rPr lang="pt-BR" dirty="0">
                <a:solidFill>
                  <a:schemeClr val="bg1"/>
                </a:solidFill>
              </a:rPr>
              <a:t>    calcular a impureza de cada split</a:t>
            </a:r>
          </a:p>
          <a:p>
            <a:r>
              <a:rPr lang="pt-BR" dirty="0">
                <a:solidFill>
                  <a:schemeClr val="bg1"/>
                </a:solidFill>
              </a:rPr>
              <a:t>    </a:t>
            </a:r>
          </a:p>
          <a:p>
            <a:r>
              <a:rPr lang="pt-BR" dirty="0">
                <a:solidFill>
                  <a:schemeClr val="bg1"/>
                </a:solidFill>
              </a:rPr>
              <a:t>    escolher o melhor split</a:t>
            </a:r>
          </a:p>
          <a:p>
            <a:r>
              <a:rPr lang="pt-BR" dirty="0">
                <a:solidFill>
                  <a:schemeClr val="bg1"/>
                </a:solidFill>
              </a:rPr>
              <a:t>    </a:t>
            </a:r>
          </a:p>
          <a:p>
            <a:r>
              <a:rPr lang="pt-BR" dirty="0">
                <a:solidFill>
                  <a:schemeClr val="bg1"/>
                </a:solidFill>
              </a:rPr>
              <a:t>    dividir o dataset</a:t>
            </a:r>
          </a:p>
          <a:p>
            <a:r>
              <a:rPr lang="pt-BR" dirty="0">
                <a:solidFill>
                  <a:schemeClr val="bg1"/>
                </a:solidFill>
              </a:rPr>
              <a:t>    </a:t>
            </a:r>
          </a:p>
          <a:p>
            <a:r>
              <a:rPr lang="pt-BR" dirty="0">
                <a:solidFill>
                  <a:schemeClr val="bg1"/>
                </a:solidFill>
              </a:rPr>
              <a:t>    repetir recursivamente</a:t>
            </a:r>
          </a:p>
        </p:txBody>
      </p:sp>
    </p:spTree>
    <p:extLst>
      <p:ext uri="{BB962C8B-B14F-4D97-AF65-F5344CB8AC3E}">
        <p14:creationId xmlns:p14="http://schemas.microsoft.com/office/powerpoint/2010/main" val="3219284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76C781E-A2D5-3592-2C08-B021F20B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B0CD3F84-AF9D-C934-243A-C16E4C2DAB07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4C61EEBF-2F34-9B1F-5FF5-FC780FED1694}"/>
              </a:ext>
            </a:extLst>
          </p:cNvPr>
          <p:cNvSpPr/>
          <p:nvPr/>
        </p:nvSpPr>
        <p:spPr>
          <a:xfrm>
            <a:off x="196646" y="587660"/>
            <a:ext cx="8229240" cy="105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ID3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12E9FD4D-9EB8-5ED4-87BC-B6A11E4D0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453" y="1293147"/>
            <a:ext cx="6192114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36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D2DA2274-1A81-5791-70E1-3D201808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B1B44B5C-1EBC-F965-4DA7-B776634AB60A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C93BE0A0-051A-3AE2-6C3F-449FCE4C50EA}"/>
              </a:ext>
            </a:extLst>
          </p:cNvPr>
          <p:cNvSpPr/>
          <p:nvPr/>
        </p:nvSpPr>
        <p:spPr>
          <a:xfrm>
            <a:off x="196646" y="587660"/>
            <a:ext cx="8229240" cy="105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ID3 – Cálculo da Entropia do dataset 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E3378BF-B2B3-E710-85E3-C72A33EA9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590" y="2181230"/>
            <a:ext cx="3470040" cy="62248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54F687B-29A3-297D-D16E-70960718C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315" y="2966296"/>
            <a:ext cx="5413029" cy="128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0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579EDAE-7550-7348-E9C1-F7B38158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6090746C-704B-2B73-D1EF-79CCE17DE602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9412031F-6B8F-4231-2F6A-DFB7DB33D91B}"/>
              </a:ext>
            </a:extLst>
          </p:cNvPr>
          <p:cNvSpPr/>
          <p:nvPr/>
        </p:nvSpPr>
        <p:spPr>
          <a:xfrm>
            <a:off x="196646" y="587660"/>
            <a:ext cx="8229240" cy="105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ID3 – Variável Clima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E5BE723-C1DB-3EA8-CAF5-FD7D073E1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32" y="1095304"/>
            <a:ext cx="2543530" cy="100979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A6037CE-A1EB-4D90-F623-190F26722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936" y="1417964"/>
            <a:ext cx="752580" cy="21910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5C8A46F-61AE-321E-BBFC-A4A0B1DD3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74" y="2148098"/>
            <a:ext cx="2295845" cy="75258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57A4225-F78B-DB3F-F007-71DABBD2D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015" y="2361205"/>
            <a:ext cx="752580" cy="21910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9A3B9C4-B739-B46E-5402-76A228299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32" y="3029464"/>
            <a:ext cx="1867161" cy="144800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6E48E42-1748-6A39-B0D9-B44372D5EA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1723" y="3343967"/>
            <a:ext cx="4191585" cy="962159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7682449-5501-A9BA-782B-5945D5346F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65" y="5379403"/>
            <a:ext cx="3962953" cy="828791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4126B1A2-9BD7-0960-9B5B-9623656BFB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0005" y="4974591"/>
            <a:ext cx="2524477" cy="1448002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E10375B1-E2AB-4FF4-650C-F3BF617F45BD}"/>
              </a:ext>
            </a:extLst>
          </p:cNvPr>
          <p:cNvSpPr txBox="1"/>
          <p:nvPr/>
        </p:nvSpPr>
        <p:spPr>
          <a:xfrm>
            <a:off x="710374" y="4861359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Entropia Ponderada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9AB6C0F4-04E1-7E78-E822-3F61A1D1214F}"/>
              </a:ext>
            </a:extLst>
          </p:cNvPr>
          <p:cNvSpPr/>
          <p:nvPr/>
        </p:nvSpPr>
        <p:spPr>
          <a:xfrm>
            <a:off x="4997864" y="5516084"/>
            <a:ext cx="393291" cy="3276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5FDBD6F-835B-2CD9-00BC-DD5959817498}"/>
              </a:ext>
            </a:extLst>
          </p:cNvPr>
          <p:cNvSpPr txBox="1"/>
          <p:nvPr/>
        </p:nvSpPr>
        <p:spPr>
          <a:xfrm>
            <a:off x="5501522" y="457788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Ganho de Informação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A866CF0-1D34-7CFA-D368-00504EC9F5B3}"/>
              </a:ext>
            </a:extLst>
          </p:cNvPr>
          <p:cNvSpPr/>
          <p:nvPr/>
        </p:nvSpPr>
        <p:spPr>
          <a:xfrm>
            <a:off x="6046839" y="5978013"/>
            <a:ext cx="1759974" cy="4445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93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60C3111-6FAD-39E8-EB2B-B166DA52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21B8109A-ABE5-356F-0A86-B3D1E323C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911" y="5138753"/>
            <a:ext cx="1829055" cy="704948"/>
          </a:xfrm>
          <a:prstGeom prst="rect">
            <a:avLst/>
          </a:prstGeom>
        </p:spPr>
      </p:pic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630CF8CD-B06F-7AD0-FB92-9851B862E049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1BCFBB05-A9B3-C5F4-27C2-FAACC837A01F}"/>
              </a:ext>
            </a:extLst>
          </p:cNvPr>
          <p:cNvSpPr/>
          <p:nvPr/>
        </p:nvSpPr>
        <p:spPr>
          <a:xfrm>
            <a:off x="196646" y="587660"/>
            <a:ext cx="8229240" cy="105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ID3 – Variável Vento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101C934-FEDB-8E7D-143C-326AE58038C4}"/>
              </a:ext>
            </a:extLst>
          </p:cNvPr>
          <p:cNvSpPr txBox="1"/>
          <p:nvPr/>
        </p:nvSpPr>
        <p:spPr>
          <a:xfrm>
            <a:off x="700542" y="4566018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Entropia Ponderada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E1C4B267-9FCD-1EE7-9541-3D81F97E0E96}"/>
              </a:ext>
            </a:extLst>
          </p:cNvPr>
          <p:cNvSpPr/>
          <p:nvPr/>
        </p:nvSpPr>
        <p:spPr>
          <a:xfrm>
            <a:off x="4997864" y="5516084"/>
            <a:ext cx="393291" cy="3276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2B56249-6D22-25E4-CF5A-FA4F4723D773}"/>
              </a:ext>
            </a:extLst>
          </p:cNvPr>
          <p:cNvSpPr txBox="1"/>
          <p:nvPr/>
        </p:nvSpPr>
        <p:spPr>
          <a:xfrm>
            <a:off x="5501522" y="457788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Ganho de Informação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E6C067-02B4-36F9-C1F3-9D9B2D499674}"/>
              </a:ext>
            </a:extLst>
          </p:cNvPr>
          <p:cNvSpPr/>
          <p:nvPr/>
        </p:nvSpPr>
        <p:spPr>
          <a:xfrm>
            <a:off x="5900090" y="5561994"/>
            <a:ext cx="1759974" cy="4445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F13A569-9ABB-6889-A392-4BFB8C7BB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21" y="1107940"/>
            <a:ext cx="2019582" cy="141942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4744240-5A75-30D9-0B4E-3652793E8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103" y="1954957"/>
            <a:ext cx="1066949" cy="33342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38DAAEE-54D8-EEDD-0B62-5853D5311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48" y="2624786"/>
            <a:ext cx="1829055" cy="152421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4F66E7C-CBA9-2164-597C-3A3222EAD2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4839" y="3411137"/>
            <a:ext cx="1257475" cy="30484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4858BB7-031A-35D0-8BD7-04E43E17F1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55" y="5099967"/>
            <a:ext cx="3467584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28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DED553E-A2F5-7C41-5D49-7482EFB5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2BA5E1F2-7FA8-F9DD-1874-542A517C14E5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5436B04B-CBFC-951A-C252-717C24433416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ID3 – Escolha da variável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9AF7E5-1D92-5856-50C7-20564BDC47F8}"/>
              </a:ext>
            </a:extLst>
          </p:cNvPr>
          <p:cNvSpPr txBox="1"/>
          <p:nvPr/>
        </p:nvSpPr>
        <p:spPr>
          <a:xfrm>
            <a:off x="855407" y="1620858"/>
            <a:ext cx="2615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Clima    </a:t>
            </a:r>
          </a:p>
          <a:p>
            <a:pPr algn="ctr"/>
            <a:r>
              <a:rPr lang="pt-BR" sz="2800" dirty="0" err="1"/>
              <a:t>Gain</a:t>
            </a:r>
            <a:r>
              <a:rPr lang="pt-BR" sz="2800" dirty="0"/>
              <a:t> = 0.656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522FC8-73C4-66DA-8950-1C5B38A153BF}"/>
              </a:ext>
            </a:extLst>
          </p:cNvPr>
          <p:cNvSpPr txBox="1"/>
          <p:nvPr/>
        </p:nvSpPr>
        <p:spPr>
          <a:xfrm>
            <a:off x="5673215" y="1658722"/>
            <a:ext cx="2615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Vento   </a:t>
            </a:r>
          </a:p>
          <a:p>
            <a:pPr algn="ctr"/>
            <a:r>
              <a:rPr lang="pt-BR" sz="2800" dirty="0" err="1"/>
              <a:t>Gain</a:t>
            </a:r>
            <a:r>
              <a:rPr lang="pt-BR" sz="2800" dirty="0"/>
              <a:t> = 0.05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2C1A32-1907-B66E-EE07-3480110AF372}"/>
              </a:ext>
            </a:extLst>
          </p:cNvPr>
          <p:cNvSpPr/>
          <p:nvPr/>
        </p:nvSpPr>
        <p:spPr>
          <a:xfrm>
            <a:off x="837285" y="1653331"/>
            <a:ext cx="2849811" cy="10505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CF7F262-87F6-06FA-39A1-272FBBED3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154" y="3153514"/>
            <a:ext cx="1741885" cy="26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67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D4DE90F5-8DD4-C58E-D056-28800921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2FC94974-F861-BAB1-2AFE-4C2E907693E5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18A008F2-8D91-A93E-A606-FA3169512A13}"/>
              </a:ext>
            </a:extLst>
          </p:cNvPr>
          <p:cNvSpPr/>
          <p:nvPr/>
        </p:nvSpPr>
        <p:spPr>
          <a:xfrm>
            <a:off x="196646" y="587660"/>
            <a:ext cx="4827638" cy="6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C4.5 – </a:t>
            </a: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Gain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ratio</a:t>
            </a: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9A2E3F-EED1-B020-0612-30B2E8C10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944" y="1945732"/>
            <a:ext cx="3658111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04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43E9D003-5C5F-37DA-0564-432228C4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8562A44A-DB2D-15E9-53DD-CA23C16325FE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3EA48893-A328-80E5-1C92-AACB03BC1D63}"/>
              </a:ext>
            </a:extLst>
          </p:cNvPr>
          <p:cNvSpPr/>
          <p:nvPr/>
        </p:nvSpPr>
        <p:spPr>
          <a:xfrm>
            <a:off x="196646" y="587660"/>
            <a:ext cx="7796980" cy="6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C4.5 – </a:t>
            </a: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Gain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ratio</a:t>
            </a: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90233E-EB46-66A2-DDFA-C88456224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34" y="1633936"/>
            <a:ext cx="6839905" cy="87642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D65D87C-9504-A052-B05C-7B2F22449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261" y="2707793"/>
            <a:ext cx="3067478" cy="100979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6680895-7CD1-8B22-5B6F-AE835FC2B20E}"/>
              </a:ext>
            </a:extLst>
          </p:cNvPr>
          <p:cNvSpPr txBox="1"/>
          <p:nvPr/>
        </p:nvSpPr>
        <p:spPr>
          <a:xfrm>
            <a:off x="275304" y="1075973"/>
            <a:ext cx="1130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Clima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7126E7E-3A56-870F-68D5-854905BDB0BD}"/>
              </a:ext>
            </a:extLst>
          </p:cNvPr>
          <p:cNvSpPr txBox="1"/>
          <p:nvPr/>
        </p:nvSpPr>
        <p:spPr>
          <a:xfrm>
            <a:off x="399880" y="4233514"/>
            <a:ext cx="1130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Vento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5700078-4710-CC5E-B8A2-D701D42B1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665" y="4693556"/>
            <a:ext cx="1933845" cy="41915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CC09BB6-3300-46EC-5033-8C32EAB37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0237" y="5324905"/>
            <a:ext cx="1409897" cy="828791"/>
          </a:xfrm>
          <a:prstGeom prst="rect">
            <a:avLst/>
          </a:prstGeom>
        </p:spPr>
      </p:pic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7A58877-CABB-B0AA-7A2A-CC9EFCEFE517}"/>
              </a:ext>
            </a:extLst>
          </p:cNvPr>
          <p:cNvCxnSpPr/>
          <p:nvPr/>
        </p:nvCxnSpPr>
        <p:spPr>
          <a:xfrm flipH="1">
            <a:off x="275304" y="3873910"/>
            <a:ext cx="835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487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E3DC135-C431-6F0B-8604-1D92E898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43D86318-F4BE-B6AD-3D63-04D0FE90BEAA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0EB8225B-25F3-6B4D-B7D0-9CD5D3F533C6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C4.5 – Escolha da variável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AE7007-C764-384A-50C3-46A221CBA06D}"/>
              </a:ext>
            </a:extLst>
          </p:cNvPr>
          <p:cNvSpPr txBox="1"/>
          <p:nvPr/>
        </p:nvSpPr>
        <p:spPr>
          <a:xfrm>
            <a:off x="713609" y="1651868"/>
            <a:ext cx="3097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Clima    </a:t>
            </a:r>
          </a:p>
          <a:p>
            <a:pPr algn="ctr"/>
            <a:r>
              <a:rPr lang="pt-BR" sz="2800" dirty="0" err="1"/>
              <a:t>Gain</a:t>
            </a:r>
            <a:r>
              <a:rPr lang="pt-BR" sz="2800" dirty="0"/>
              <a:t> </a:t>
            </a:r>
            <a:r>
              <a:rPr lang="pt-BR" sz="2800" dirty="0" err="1"/>
              <a:t>ratio</a:t>
            </a:r>
            <a:r>
              <a:rPr lang="pt-BR" sz="2800" dirty="0"/>
              <a:t> = 0.42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7296CB-055D-E9AE-559E-F3E6E14AE508}"/>
              </a:ext>
            </a:extLst>
          </p:cNvPr>
          <p:cNvSpPr txBox="1"/>
          <p:nvPr/>
        </p:nvSpPr>
        <p:spPr>
          <a:xfrm>
            <a:off x="5673215" y="1658722"/>
            <a:ext cx="3097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Vento   </a:t>
            </a:r>
          </a:p>
          <a:p>
            <a:pPr algn="ctr"/>
            <a:r>
              <a:rPr lang="pt-BR" sz="2800" dirty="0" err="1"/>
              <a:t>Gain</a:t>
            </a:r>
            <a:r>
              <a:rPr lang="pt-BR" sz="2800" dirty="0"/>
              <a:t> </a:t>
            </a:r>
            <a:r>
              <a:rPr lang="pt-BR" sz="2800" dirty="0" err="1"/>
              <a:t>ratio</a:t>
            </a:r>
            <a:r>
              <a:rPr lang="pt-BR" sz="2800" dirty="0"/>
              <a:t> = 0.052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FD0C836-C771-BB69-AC75-6F032A22ABEC}"/>
              </a:ext>
            </a:extLst>
          </p:cNvPr>
          <p:cNvSpPr/>
          <p:nvPr/>
        </p:nvSpPr>
        <p:spPr>
          <a:xfrm>
            <a:off x="837285" y="1653331"/>
            <a:ext cx="2849811" cy="10505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AF01C5-CB3C-64EC-040B-6C822FCAB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154" y="3153514"/>
            <a:ext cx="1741885" cy="26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85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4CB5DDC-3A97-E51B-158B-5ECA9D66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8AD3B136-6327-B28C-1265-53B60640E01E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4FB18825-9779-C4E1-6897-7764FFDC3792}"/>
              </a:ext>
            </a:extLst>
          </p:cNvPr>
          <p:cNvSpPr/>
          <p:nvPr/>
        </p:nvSpPr>
        <p:spPr>
          <a:xfrm>
            <a:off x="196646" y="587660"/>
            <a:ext cx="6135328" cy="6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CART – Gini do dataset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9D2CAEF-0656-BAA8-8465-FF9BA13C8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310" y="1755465"/>
            <a:ext cx="2124371" cy="62873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B873FDA-54CA-33EB-3BC5-DCD1C5AC0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469" y="2809590"/>
            <a:ext cx="272453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89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CD9021A-C9C4-AD9E-4C62-41035540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A313CC4D-9B51-804A-423F-58C969CA3D29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C32CBD3E-69D3-181E-9793-FB9F55DD15C4}"/>
              </a:ext>
            </a:extLst>
          </p:cNvPr>
          <p:cNvSpPr/>
          <p:nvPr/>
        </p:nvSpPr>
        <p:spPr>
          <a:xfrm>
            <a:off x="196646" y="587660"/>
            <a:ext cx="6135328" cy="6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CART – Cálculo do Gini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5BE7118-26B8-425F-7290-6842D914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55" y="1550649"/>
            <a:ext cx="914528" cy="81926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B594177-4D81-B709-EC53-6CB40B909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378" y="2759609"/>
            <a:ext cx="1066949" cy="40963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CCE3E2F-EA1C-BC11-2B79-BE8D11A59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063" y="1755465"/>
            <a:ext cx="1066949" cy="40963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E211747-DDF8-BABE-ECD3-8AF9DB724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60" y="2540504"/>
            <a:ext cx="1200318" cy="84784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18EC41D-CB36-3B6D-B198-F3C08A8C2E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2716" y="3616095"/>
            <a:ext cx="3181794" cy="100979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F425D02-E9F2-AE6C-90E9-E705CAC88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060" y="3675087"/>
            <a:ext cx="1409897" cy="73352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BD8EA650-1EEB-B22F-D9E9-E7DC3E8B9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099" y="5479655"/>
            <a:ext cx="4458322" cy="79068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7AA94D8B-EA69-CC51-22FC-8851FC1604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060" y="5072740"/>
            <a:ext cx="1638529" cy="25721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A83FD041-6BE0-2D4C-0B25-5859E4855288}"/>
              </a:ext>
            </a:extLst>
          </p:cNvPr>
          <p:cNvSpPr txBox="1"/>
          <p:nvPr/>
        </p:nvSpPr>
        <p:spPr>
          <a:xfrm>
            <a:off x="275304" y="1075973"/>
            <a:ext cx="1130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Clima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30FF37E-99EB-AB93-6B32-E4CBE8D7B96B}"/>
              </a:ext>
            </a:extLst>
          </p:cNvPr>
          <p:cNvSpPr/>
          <p:nvPr/>
        </p:nvSpPr>
        <p:spPr>
          <a:xfrm>
            <a:off x="1600483" y="5894774"/>
            <a:ext cx="2200883" cy="5252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041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E9E898DE-0B74-C97F-E1B6-99B363B3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9E21CE15-79CA-38C0-1855-96CDFB58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82" y="3976040"/>
            <a:ext cx="3267531" cy="828791"/>
          </a:xfrm>
          <a:prstGeom prst="rect">
            <a:avLst/>
          </a:prstGeom>
        </p:spPr>
      </p:pic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4261F4EA-8EF5-3697-A958-C4F419BE062F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6FE38909-C9FA-CBA0-D09B-6A316AE6FDCB}"/>
              </a:ext>
            </a:extLst>
          </p:cNvPr>
          <p:cNvSpPr/>
          <p:nvPr/>
        </p:nvSpPr>
        <p:spPr>
          <a:xfrm>
            <a:off x="196646" y="587660"/>
            <a:ext cx="6135328" cy="65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CART – Cálculo do Gini 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2B15202-E9A5-1C4B-38E8-6B8836B0C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60" y="3568402"/>
            <a:ext cx="1638529" cy="25721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439C57F5-5C7B-1AF5-8AA2-93E010DC8EF7}"/>
              </a:ext>
            </a:extLst>
          </p:cNvPr>
          <p:cNvSpPr txBox="1"/>
          <p:nvPr/>
        </p:nvSpPr>
        <p:spPr>
          <a:xfrm>
            <a:off x="275304" y="1075973"/>
            <a:ext cx="1130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Vento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2F978AF-AA03-3575-9052-0492ED033C74}"/>
              </a:ext>
            </a:extLst>
          </p:cNvPr>
          <p:cNvSpPr/>
          <p:nvPr/>
        </p:nvSpPr>
        <p:spPr>
          <a:xfrm>
            <a:off x="1600483" y="4390436"/>
            <a:ext cx="2200883" cy="5252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78FF08-5CFC-CCF0-8113-E0C462E3C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08" y="1685719"/>
            <a:ext cx="1428949" cy="76210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2C26EF-BC00-27D0-287B-F8F638245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3759" y="1894733"/>
            <a:ext cx="1267002" cy="43821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8241D6C-5081-94E2-602A-FECAED81A9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02" y="2607187"/>
            <a:ext cx="1467055" cy="7144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1633EED-BB42-A3C4-6273-FF98EADF78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5153" y="2973951"/>
            <a:ext cx="1524213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277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2213F3A-D4B9-AFB5-EB6A-0BCB865C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1581CDEF-3986-6DE2-BF28-138DCFAD0CC6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A3CF20EC-F282-88C7-CDAB-CE4C57E5FA98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CART – Escolha da variável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27EEC3D-4D2E-6A62-6629-7B69917B839D}"/>
              </a:ext>
            </a:extLst>
          </p:cNvPr>
          <p:cNvSpPr txBox="1"/>
          <p:nvPr/>
        </p:nvSpPr>
        <p:spPr>
          <a:xfrm>
            <a:off x="855407" y="1620858"/>
            <a:ext cx="2615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Clima    </a:t>
            </a:r>
          </a:p>
          <a:p>
            <a:pPr algn="ctr"/>
            <a:r>
              <a:rPr lang="pt-BR" sz="2800" dirty="0"/>
              <a:t>Gini = 0.166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ACB67F-A86E-DA30-6EBD-CC9E3B62CB68}"/>
              </a:ext>
            </a:extLst>
          </p:cNvPr>
          <p:cNvSpPr txBox="1"/>
          <p:nvPr/>
        </p:nvSpPr>
        <p:spPr>
          <a:xfrm>
            <a:off x="5673215" y="1658722"/>
            <a:ext cx="2615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Vento   </a:t>
            </a:r>
          </a:p>
          <a:p>
            <a:pPr algn="ctr"/>
            <a:r>
              <a:rPr lang="pt-BR" sz="2800" dirty="0"/>
              <a:t>Gini = 0.466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5CE652A-828B-F8FC-7A68-58CDE1D82E4A}"/>
              </a:ext>
            </a:extLst>
          </p:cNvPr>
          <p:cNvSpPr/>
          <p:nvPr/>
        </p:nvSpPr>
        <p:spPr>
          <a:xfrm>
            <a:off x="837285" y="1653331"/>
            <a:ext cx="2849811" cy="10505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8D5E4C-AD2E-0EFD-B14A-2A59AFCA5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154" y="3153514"/>
            <a:ext cx="1741885" cy="26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85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98D9D6E-C4ED-8093-5F81-B9EDCE54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D149C43B-168B-4EAA-3196-8035B806C33B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D438ACBC-9334-3CCD-7A71-5430C02BBA1C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CART – Regressão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EEEDBB-A7FF-DCAA-C0CE-4AA00C1A5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293" y="1620860"/>
            <a:ext cx="5296639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09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F7EF87C-30D8-29ED-D4D2-D2CB3236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56325156-285F-8B45-8709-14D01277F075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9ACEA559-E13F-6580-7075-0715A3F441F3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Exemplo CART – Regressão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075A2F6-FC6B-98DE-D624-9372CAAC0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42" y="1058777"/>
            <a:ext cx="3048425" cy="27150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99FF332-70F2-F67B-04B7-A9131D264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644" y="3522720"/>
            <a:ext cx="628738" cy="21910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763779-9467-1414-3B64-285358F21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627" y="2663088"/>
            <a:ext cx="2314898" cy="41915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2C71E49-229B-3112-76B0-667B3F2FB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095" y="1394142"/>
            <a:ext cx="2257740" cy="1352739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BBFAC989-0710-D19B-841D-5A2DD9DFA902}"/>
              </a:ext>
            </a:extLst>
          </p:cNvPr>
          <p:cNvSpPr/>
          <p:nvPr/>
        </p:nvSpPr>
        <p:spPr>
          <a:xfrm rot="19351648">
            <a:off x="1709383" y="2818634"/>
            <a:ext cx="1721302" cy="2779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A40DC60-CAF8-8DF5-D88A-5FA4967CA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5590" y="3047665"/>
            <a:ext cx="1086002" cy="40963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C0E4B66-93B3-DB7A-EC73-A41D622D58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481" y="3904360"/>
            <a:ext cx="1219370" cy="174331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6478BF1-EFFA-D729-AAAD-7C826CF660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50" y="5778257"/>
            <a:ext cx="581106" cy="25721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57D9F9CC-0FBF-6BF2-F631-2749FC9701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4825" y="5740152"/>
            <a:ext cx="409632" cy="29531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4B0D344C-6FAD-AA75-415D-E9F27DE896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0522" y="3773781"/>
            <a:ext cx="2172003" cy="885949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89635B4-2CC6-5DC1-79C5-98246747C7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3359" y="4637887"/>
            <a:ext cx="981212" cy="276264"/>
          </a:xfrm>
          <a:prstGeom prst="rect">
            <a:avLst/>
          </a:prstGeom>
        </p:spPr>
      </p:pic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9FADBE85-C19C-9765-0A16-9BFF0CC10236}"/>
              </a:ext>
            </a:extLst>
          </p:cNvPr>
          <p:cNvSpPr/>
          <p:nvPr/>
        </p:nvSpPr>
        <p:spPr>
          <a:xfrm rot="19351648">
            <a:off x="1425221" y="4893561"/>
            <a:ext cx="2252120" cy="3528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9FAEF29F-FB49-E4DD-6A11-42DE86E579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1792" y="2105749"/>
            <a:ext cx="2286319" cy="838317"/>
          </a:xfrm>
          <a:prstGeom prst="rect">
            <a:avLst/>
          </a:prstGeom>
        </p:spPr>
      </p:pic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54608130-95F1-898E-A338-381E688EDCBB}"/>
              </a:ext>
            </a:extLst>
          </p:cNvPr>
          <p:cNvCxnSpPr/>
          <p:nvPr/>
        </p:nvCxnSpPr>
        <p:spPr>
          <a:xfrm>
            <a:off x="6164826" y="845960"/>
            <a:ext cx="0" cy="5377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5B9A6A66-BF17-B6F7-886C-A79B89341FB2}"/>
              </a:ext>
            </a:extLst>
          </p:cNvPr>
          <p:cNvCxnSpPr/>
          <p:nvPr/>
        </p:nvCxnSpPr>
        <p:spPr>
          <a:xfrm flipH="1">
            <a:off x="3126658" y="3591489"/>
            <a:ext cx="2939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AB79F16-75B1-0F1A-9A15-9F3D7E1198A1}"/>
              </a:ext>
            </a:extLst>
          </p:cNvPr>
          <p:cNvSpPr txBox="1"/>
          <p:nvPr/>
        </p:nvSpPr>
        <p:spPr>
          <a:xfrm>
            <a:off x="6263150" y="783284"/>
            <a:ext cx="26749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Erro médio ponderado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52DA801F-820B-C557-A6F2-6F217F6DAC38}"/>
              </a:ext>
            </a:extLst>
          </p:cNvPr>
          <p:cNvSpPr/>
          <p:nvPr/>
        </p:nvSpPr>
        <p:spPr>
          <a:xfrm>
            <a:off x="7186758" y="2485563"/>
            <a:ext cx="1078272" cy="521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E2FD09D8-A83D-F6DE-ACA8-1C56D4B3FC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14076" y="4711308"/>
            <a:ext cx="1086002" cy="1066949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8F3464BF-CE1B-6674-1A02-BF14B364B228}"/>
              </a:ext>
            </a:extLst>
          </p:cNvPr>
          <p:cNvCxnSpPr/>
          <p:nvPr/>
        </p:nvCxnSpPr>
        <p:spPr>
          <a:xfrm flipH="1">
            <a:off x="6325028" y="3591489"/>
            <a:ext cx="2939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B1B1960-3947-D52D-5813-3AABA60C10C1}"/>
              </a:ext>
            </a:extLst>
          </p:cNvPr>
          <p:cNvSpPr txBox="1"/>
          <p:nvPr/>
        </p:nvSpPr>
        <p:spPr>
          <a:xfrm>
            <a:off x="6233294" y="3711182"/>
            <a:ext cx="2674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Algoritmo testa diferentes splits, calcula os </a:t>
            </a:r>
            <a:r>
              <a:rPr lang="pt-BR" sz="1600" dirty="0" err="1"/>
              <a:t>MSEs</a:t>
            </a:r>
            <a:r>
              <a:rPr lang="pt-BR" sz="1600" dirty="0"/>
              <a:t> e escolhe o menor</a:t>
            </a:r>
          </a:p>
        </p:txBody>
      </p:sp>
    </p:spTree>
    <p:extLst>
      <p:ext uri="{BB962C8B-B14F-4D97-AF65-F5344CB8AC3E}">
        <p14:creationId xmlns:p14="http://schemas.microsoft.com/office/powerpoint/2010/main" val="1980278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91BF8A5-A568-8170-1622-E93B9CAD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7D051A16-1E8C-9000-5BFF-C4DD565DC8F0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541E8188-43ED-4874-74A8-BE4510D02BDE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Fronteiras de Decisão</a:t>
            </a: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37D48E-F855-6084-D111-FC7E2E5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88" y="1104260"/>
            <a:ext cx="6208256" cy="49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03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6C4BFFB-D882-9DAA-5484-E020E05F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4CD8D456-9AA9-C9F4-DB15-56863CE7310C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Árvore de Decisão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p3">
            <a:extLst>
              <a:ext uri="{FF2B5EF4-FFF2-40B4-BE49-F238E27FC236}">
                <a16:creationId xmlns:a16="http://schemas.microsoft.com/office/drawing/2014/main" id="{1250DD67-2B2E-A984-B46E-66D9098238C4}"/>
              </a:ext>
            </a:extLst>
          </p:cNvPr>
          <p:cNvSpPr/>
          <p:nvPr/>
        </p:nvSpPr>
        <p:spPr>
          <a:xfrm>
            <a:off x="196646" y="587660"/>
            <a:ext cx="82292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Principais </a:t>
            </a: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hiperparâmetros</a:t>
            </a: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lvl="5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Google Shape;177;p3">
            <a:extLst>
              <a:ext uri="{FF2B5EF4-FFF2-40B4-BE49-F238E27FC236}">
                <a16:creationId xmlns:a16="http://schemas.microsoft.com/office/drawing/2014/main" id="{19D99FAC-6140-B40C-57EB-6F3377079966}"/>
              </a:ext>
            </a:extLst>
          </p:cNvPr>
          <p:cNvSpPr/>
          <p:nvPr/>
        </p:nvSpPr>
        <p:spPr>
          <a:xfrm>
            <a:off x="383459" y="1444599"/>
            <a:ext cx="8229240" cy="237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lvl="0" indent="-343080">
              <a:buSzPts val="2400"/>
              <a:buFont typeface="Arial" panose="020B0604020202020204" pitchFamily="34" charset="0"/>
              <a:buChar char="•"/>
            </a:pP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max_depth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lang="pt-BR" sz="2400" dirty="0"/>
              <a:t>altura máxima da árvore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marL="343080" lvl="0" indent="-343080">
              <a:buSzPts val="2400"/>
              <a:buFont typeface="Arial" panose="020B0604020202020204" pitchFamily="34" charset="0"/>
              <a:buChar char="•"/>
            </a:pP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min_samples_split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lang="pt-BR" sz="2400" dirty="0"/>
              <a:t>quando um nó pode dividir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marL="343080" lvl="0" indent="-343080">
              <a:buSzPts val="2400"/>
              <a:buFont typeface="Arial" panose="020B0604020202020204" pitchFamily="34" charset="0"/>
              <a:buChar char="•"/>
            </a:pP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min_samples_leaf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lang="pt-BR" sz="2400" dirty="0"/>
              <a:t>tamanho mínimo das folhas</a:t>
            </a:r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criterion</a:t>
            </a: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 err="1">
                <a:latin typeface="Verdana"/>
                <a:ea typeface="Verdana"/>
                <a:cs typeface="Verdana"/>
                <a:sym typeface="Verdana"/>
              </a:rPr>
              <a:t>ccp_alpha</a:t>
            </a: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lvl="8">
              <a:buSzPts val="2400"/>
            </a:pPr>
            <a:endParaRPr lang="pt-BR" sz="24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5E9193-3635-8DB7-C29A-9A20EBD9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556474"/>
            <a:ext cx="7645709" cy="271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933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585C8C7D-BE73-CD4F-4827-6F6E7A48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6eb4f487f_0_228">
            <a:extLst>
              <a:ext uri="{FF2B5EF4-FFF2-40B4-BE49-F238E27FC236}">
                <a16:creationId xmlns:a16="http://schemas.microsoft.com/office/drawing/2014/main" id="{95386FC8-C9A2-7C66-2D0A-855ADC3334DB}"/>
              </a:ext>
            </a:extLst>
          </p:cNvPr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 dirty="0">
                <a:solidFill>
                  <a:srgbClr val="A20000"/>
                </a:solidFill>
                <a:latin typeface="Verdana"/>
                <a:ea typeface="Verdana"/>
                <a:sym typeface="Verdana"/>
              </a:rPr>
              <a:t>Modelos Ensemble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5198F1-CFD8-401B-857F-A12B9619B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3" y="1593248"/>
            <a:ext cx="8150942" cy="444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15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677BDDE-64CA-020E-7BF9-94C41182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4F8982FF-87CD-28CC-726E-37EC415AE80D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Bagging</a:t>
            </a: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 x </a:t>
            </a: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Boosting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;p3">
            <a:extLst>
              <a:ext uri="{FF2B5EF4-FFF2-40B4-BE49-F238E27FC236}">
                <a16:creationId xmlns:a16="http://schemas.microsoft.com/office/drawing/2014/main" id="{C8246EBE-8565-CCEA-4963-9E9F8B289C95}"/>
              </a:ext>
            </a:extLst>
          </p:cNvPr>
          <p:cNvSpPr/>
          <p:nvPr/>
        </p:nvSpPr>
        <p:spPr>
          <a:xfrm>
            <a:off x="347329" y="1611747"/>
            <a:ext cx="4114620" cy="237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Reduz Variância do modelo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 err="1">
                <a:latin typeface="Verdana"/>
                <a:ea typeface="Verdana"/>
                <a:cs typeface="Verdana"/>
                <a:sym typeface="Verdana"/>
              </a:rPr>
              <a:t>Bootstrap</a:t>
            </a: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2000" dirty="0" err="1">
                <a:latin typeface="Verdana"/>
                <a:ea typeface="Verdana"/>
                <a:cs typeface="Verdana"/>
                <a:sym typeface="Verdana"/>
              </a:rPr>
              <a:t>sampling</a:t>
            </a:r>
            <a:endParaRPr lang="pt-BR" sz="20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Treina um modelo em cada dataset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Combina previsões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Random Forest</a:t>
            </a:r>
          </a:p>
          <a:p>
            <a:pPr lvl="8">
              <a:buSzPts val="2400"/>
            </a:pPr>
            <a:endParaRPr lang="pt-BR" sz="20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CAFC30-E3A2-4088-DFAC-53254CBFBA25}"/>
              </a:ext>
            </a:extLst>
          </p:cNvPr>
          <p:cNvSpPr txBox="1"/>
          <p:nvPr/>
        </p:nvSpPr>
        <p:spPr>
          <a:xfrm>
            <a:off x="1280874" y="996691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/>
              <a:t>Bagging</a:t>
            </a:r>
            <a:endParaRPr lang="pt-BR" sz="2400" dirty="0"/>
          </a:p>
        </p:txBody>
      </p:sp>
      <p:sp>
        <p:nvSpPr>
          <p:cNvPr id="5" name="Google Shape;177;p3">
            <a:extLst>
              <a:ext uri="{FF2B5EF4-FFF2-40B4-BE49-F238E27FC236}">
                <a16:creationId xmlns:a16="http://schemas.microsoft.com/office/drawing/2014/main" id="{A34B8EBF-2A04-5429-0CAB-6071364D4669}"/>
              </a:ext>
            </a:extLst>
          </p:cNvPr>
          <p:cNvSpPr/>
          <p:nvPr/>
        </p:nvSpPr>
        <p:spPr>
          <a:xfrm>
            <a:off x="4461948" y="1611746"/>
            <a:ext cx="4514903" cy="3127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Reduz  bias do modelo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Cada novo modelo tenta corrigir erro do modelo anterior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Modelos sequenciais</a:t>
            </a:r>
          </a:p>
          <a:p>
            <a:pPr lvl="8">
              <a:buSzPts val="2400"/>
            </a:pPr>
            <a:endParaRPr lang="pt-BR" sz="20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099FC8-C7C0-1206-546B-2A4B12DC7414}"/>
              </a:ext>
            </a:extLst>
          </p:cNvPr>
          <p:cNvSpPr txBox="1"/>
          <p:nvPr/>
        </p:nvSpPr>
        <p:spPr>
          <a:xfrm>
            <a:off x="5888549" y="1150080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/>
              <a:t>Boosting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35697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D06C947-77DC-14EE-17A2-CF6624907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72ED0FF3-33FF-9D15-3480-E57D01111502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Bagging</a:t>
            </a: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 x </a:t>
            </a: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Boosting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5BE4BFB-96EF-21CA-DD2F-ED1D3E306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7" y="905530"/>
            <a:ext cx="7433187" cy="458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564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DAA8F337-2F9E-4AF8-679F-C2414FE0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C2BFE6DB-5A83-2ACB-50A7-8177E86F61A5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Bagging</a:t>
            </a: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 x </a:t>
            </a: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Boosting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95365E-329C-8E57-253A-AA77DB2FA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46" y="905476"/>
            <a:ext cx="7561908" cy="53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575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791A960-19B7-AD05-54AD-63D318757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92DBA5F6-6B22-4C72-E592-FE519DBACF40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Random Forest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;p3">
            <a:extLst>
              <a:ext uri="{FF2B5EF4-FFF2-40B4-BE49-F238E27FC236}">
                <a16:creationId xmlns:a16="http://schemas.microsoft.com/office/drawing/2014/main" id="{DA57ADC2-9EFA-C604-0D3E-E04335348AFE}"/>
              </a:ext>
            </a:extLst>
          </p:cNvPr>
          <p:cNvSpPr/>
          <p:nvPr/>
        </p:nvSpPr>
        <p:spPr>
          <a:xfrm>
            <a:off x="530118" y="1277450"/>
            <a:ext cx="3766580" cy="271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Versátil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Fácil de usar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Resiliência a outliers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Feature </a:t>
            </a:r>
            <a:r>
              <a:rPr lang="pt-BR" sz="2000" dirty="0" err="1">
                <a:latin typeface="Verdana"/>
                <a:ea typeface="Verdana"/>
                <a:cs typeface="Verdana"/>
                <a:sym typeface="Verdana"/>
              </a:rPr>
              <a:t>importance</a:t>
            </a:r>
            <a:endParaRPr lang="pt-BR" sz="2000" dirty="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Não extrapola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Lentidão de inferência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Tamanho</a:t>
            </a:r>
          </a:p>
          <a:p>
            <a:pPr lvl="8">
              <a:buSzPts val="2400"/>
            </a:pPr>
            <a:endParaRPr lang="pt-BR" sz="20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45649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57A3A43-6F35-48C8-3F81-DDCE7BA2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0EDB603C-588C-F0D2-97CC-0833E791B6B7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Random Forest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DC944AA-1203-5580-03FC-D2985DBB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541" y="666939"/>
            <a:ext cx="6504910" cy="552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776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FC859CFA-47B7-BE93-0FC7-618DC127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185B76F4-520F-C878-B181-D6C84D3A911A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Random Forest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FC32D4A-A965-5CA9-B2EB-246C07F25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903" y="1730477"/>
            <a:ext cx="4491512" cy="40634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03C8F48-9CB6-B83C-021F-DE8C7B3AF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97" y="1425835"/>
            <a:ext cx="2483472" cy="247402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91AD31F1-09FF-9E79-3325-42251FB11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85" y="4366368"/>
            <a:ext cx="4233297" cy="198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28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BEA6B81-2654-F3F3-AF32-1662627C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374D60F5-8ECA-139C-270B-E38A10038CFD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Random Forest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B3A8589-3E8E-A2B8-4A58-9EF353E9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3" y="1150373"/>
            <a:ext cx="8848139" cy="471612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66405CC-3076-949A-BD99-425EF19F1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107" y="1581438"/>
            <a:ext cx="17430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035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BA2BA8D-0495-A1FE-D9F7-EB8C9367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eb4f487f_0_259">
            <a:extLst>
              <a:ext uri="{FF2B5EF4-FFF2-40B4-BE49-F238E27FC236}">
                <a16:creationId xmlns:a16="http://schemas.microsoft.com/office/drawing/2014/main" id="{AF2C95B9-4E82-1D12-4F44-F9A9537848EA}"/>
              </a:ext>
            </a:extLst>
          </p:cNvPr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b="0" i="0" u="none" strike="noStrike" cap="none" dirty="0" err="1">
                <a:solidFill>
                  <a:srgbClr val="A20000"/>
                </a:solidFill>
                <a:latin typeface="Verdana"/>
                <a:ea typeface="Verdana"/>
                <a:cs typeface="Arial"/>
                <a:sym typeface="Verdana"/>
              </a:rPr>
              <a:t>XGBoost</a:t>
            </a:r>
            <a:endParaRPr sz="2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;p3">
            <a:extLst>
              <a:ext uri="{FF2B5EF4-FFF2-40B4-BE49-F238E27FC236}">
                <a16:creationId xmlns:a16="http://schemas.microsoft.com/office/drawing/2014/main" id="{3ECB1293-172C-51CD-694F-A10E84C29DBA}"/>
              </a:ext>
            </a:extLst>
          </p:cNvPr>
          <p:cNvSpPr/>
          <p:nvPr/>
        </p:nvSpPr>
        <p:spPr>
          <a:xfrm>
            <a:off x="530117" y="1277450"/>
            <a:ext cx="4238527" cy="271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Alta capacidade preditiva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latin typeface="Verdana"/>
                <a:ea typeface="Verdana"/>
                <a:cs typeface="Verdana"/>
                <a:sym typeface="Verdana"/>
              </a:rPr>
              <a:t>Paralelizável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Caixa preta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Sensível a Outliers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Não extrapola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Engenharia de features</a:t>
            </a:r>
          </a:p>
          <a:p>
            <a:pPr lvl="8">
              <a:buSzPts val="2400"/>
            </a:pPr>
            <a:endParaRPr lang="pt-BR" sz="2000" dirty="0"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7963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5748926-4CA4-4918-C374-C241B1D3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6;g396eb4f487f_0_308">
            <a:extLst>
              <a:ext uri="{FF2B5EF4-FFF2-40B4-BE49-F238E27FC236}">
                <a16:creationId xmlns:a16="http://schemas.microsoft.com/office/drawing/2014/main" id="{0A6DE8E6-1CB5-B1DC-EED7-8CD7381B7FC5}"/>
              </a:ext>
            </a:extLst>
          </p:cNvPr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696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4866</TotalTime>
  <Words>785</Words>
  <Application>Microsoft Office PowerPoint</Application>
  <PresentationFormat>Apresentação na tela (4:3)</PresentationFormat>
  <Paragraphs>347</Paragraphs>
  <Slides>52</Slides>
  <Notes>52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52</vt:i4>
      </vt:variant>
    </vt:vector>
  </HeadingPairs>
  <TitlesOfParts>
    <vt:vector size="59" baseType="lpstr">
      <vt:lpstr>Arial</vt:lpstr>
      <vt:lpstr>Calibri</vt:lpstr>
      <vt:lpstr>Noto Sans Symbols</vt:lpstr>
      <vt:lpstr>Times New Roman</vt:lpstr>
      <vt:lpstr>Verdana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9</cp:revision>
  <dcterms:created xsi:type="dcterms:W3CDTF">2013-10-10T17:31:52Z</dcterms:created>
  <dcterms:modified xsi:type="dcterms:W3CDTF">2026-04-15T11:51:58Z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