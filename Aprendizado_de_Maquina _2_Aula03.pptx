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BD5mzunicqnIkSymUTu7QvtDF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1108075" y="812800"/>
            <a:ext cx="5343525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3:notes"/>
          <p:cNvSpPr/>
          <p:nvPr>
            <p:ph idx="2" type="sldImg"/>
          </p:nvPr>
        </p:nvSpPr>
        <p:spPr>
          <a:xfrm>
            <a:off x="1108075" y="812800"/>
            <a:ext cx="5343525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eb4f487f_0_228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96eb4f487f_0_228:notes"/>
          <p:cNvSpPr/>
          <p:nvPr>
            <p:ph idx="2" type="sldImg"/>
          </p:nvPr>
        </p:nvSpPr>
        <p:spPr>
          <a:xfrm>
            <a:off x="1108075" y="812800"/>
            <a:ext cx="5343525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6eb4f487f_0_259:notes"/>
          <p:cNvSpPr/>
          <p:nvPr>
            <p:ph idx="2" type="sldImg"/>
          </p:nvPr>
        </p:nvSpPr>
        <p:spPr>
          <a:xfrm>
            <a:off x="1108075" y="812800"/>
            <a:ext cx="5343525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396eb4f487f_0_259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96eb4f487f_0_259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819ea1120_0_8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g3d819ea1120_0_8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d819ea1120_0_8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819ea1120_0_17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d819ea1120_0_1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d819ea1120_0_17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819ea1120_0_24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g3d819ea1120_0_24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d819ea1120_0_24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819ea1120_0_36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g3d819ea1120_0_3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d819ea1120_0_36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819ea1120_0_53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g3d819ea1120_0_5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d819ea1120_0_53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819ea1120_0_66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g3d819ea1120_0_6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g3d819ea1120_0_66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/>
          <p:nvPr>
            <p:ph idx="2" type="sldImg"/>
          </p:nvPr>
        </p:nvSpPr>
        <p:spPr>
          <a:xfrm>
            <a:off x="1108075" y="812800"/>
            <a:ext cx="5343525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4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4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819ea1120_0_99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d819ea1120_0_99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d819ea1120_0_99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819ea1120_0_118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d819ea1120_0_118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819ea1120_0_122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g3d819ea1120_0_12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d819ea1120_0_122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819ea1120_0_132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g3d819ea1120_0_13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3d819ea1120_0_132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819ea1120_0_143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g3d819ea1120_0_143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g3d819ea1120_0_143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819ea1120_0_158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d819ea1120_0_158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d819ea1120_0_158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819ea1120_0_166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d819ea1120_0_16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d819ea1120_0_166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819ea1120_0_176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g3d819ea1120_0_17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d819ea1120_0_176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819ea1120_0_197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g3d819ea1120_0_19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3d819ea1120_0_197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819ea1120_0_236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g3d819ea1120_0_23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g3d819ea1120_0_236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d819ea1120_0_215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g3d819ea1120_0_215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g3d819ea1120_0_215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819ea1120_0_226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g3d819ea1120_0_22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d819ea1120_0_226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819ea1120_0_244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g3d819ea1120_0_244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819ea1120_0_248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g3d819ea1120_0_248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3d819ea1120_0_248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819ea1120_0_257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g3d819ea1120_0_257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g3d819ea1120_0_257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819ea1120_0_272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g3d819ea1120_0_272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d819ea1120_0_272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819ea1120_0_286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g3d819ea1120_0_28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g3d819ea1120_0_286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819ea1120_0_296:notes"/>
          <p:cNvSpPr/>
          <p:nvPr>
            <p:ph idx="2" type="sldImg"/>
          </p:nvPr>
        </p:nvSpPr>
        <p:spPr>
          <a:xfrm>
            <a:off x="1108075" y="812800"/>
            <a:ext cx="53436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g3d819ea1120_0_296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g3d819ea1120_0_296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4:notes"/>
          <p:cNvSpPr/>
          <p:nvPr>
            <p:ph idx="2" type="sldImg"/>
          </p:nvPr>
        </p:nvSpPr>
        <p:spPr>
          <a:xfrm>
            <a:off x="1108075" y="812800"/>
            <a:ext cx="5343525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74:notes"/>
          <p:cNvSpPr txBox="1"/>
          <p:nvPr>
            <p:ph idx="1" type="body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74:notes"/>
          <p:cNvSpPr txBox="1"/>
          <p:nvPr>
            <p:ph idx="12" type="sldNum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" name="Google Shape;26;p2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" name="Google Shape;32;p3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" name="Google Shape;38;p3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5" name="Google Shape;45;p3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" name="Google Shape;50;p3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" name="Google Shape;55;p3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" name="Google Shape;63;p3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9" name="Google Shape;79;p4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6" name="Google Shape;86;p4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" name="Google Shape;95;p4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6" name="Google Shape;106;p4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5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6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6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8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9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9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9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0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0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1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51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2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2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3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53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4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4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4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4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4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4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1.png"/><Relationship Id="rId2" Type="http://schemas.openxmlformats.org/officeDocument/2006/relationships/image" Target="../media/image34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7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b="0" i="0" lang="pt-BR" sz="2400" u="none" cap="none" strike="noStrik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Princípios de Ciência de Dados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27"/>
          <p:cNvCxnSpPr/>
          <p:nvPr/>
        </p:nvCxnSpPr>
        <p:spPr>
          <a:xfrm flipH="1" rot="10800000">
            <a:off x="0" y="6560640"/>
            <a:ext cx="7752240" cy="10080"/>
          </a:xfrm>
          <a:prstGeom prst="straightConnector1">
            <a:avLst/>
          </a:prstGeom>
          <a:noFill/>
          <a:ln cap="flat" cmpd="sng" w="38100">
            <a:solidFill>
              <a:srgbClr val="BE4B4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GGFD2166TRA Raw.tif" id="13" name="Google Shape;13;p27"/>
          <p:cNvPicPr preferRelativeResize="0"/>
          <p:nvPr/>
        </p:nvPicPr>
        <p:blipFill rotWithShape="1">
          <a:blip r:embed="rId2">
            <a:alphaModFix/>
          </a:blip>
          <a:srcRect b="11112" l="363" r="9182" t="2153"/>
          <a:stretch/>
        </p:blipFill>
        <p:spPr>
          <a:xfrm>
            <a:off x="0" y="0"/>
            <a:ext cx="9143640" cy="59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Google Shape;17;p27"/>
          <p:cNvPicPr preferRelativeResize="0"/>
          <p:nvPr/>
        </p:nvPicPr>
        <p:blipFill rotWithShape="1">
          <a:blip r:embed="rId3">
            <a:alphaModFix/>
          </a:blip>
          <a:srcRect b="0" l="28611" r="49359" t="0"/>
          <a:stretch/>
        </p:blipFill>
        <p:spPr>
          <a:xfrm>
            <a:off x="0" y="5501520"/>
            <a:ext cx="9143640" cy="13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7"/>
          <p:cNvPicPr preferRelativeResize="0"/>
          <p:nvPr/>
        </p:nvPicPr>
        <p:blipFill rotWithShape="1">
          <a:blip r:embed="rId4">
            <a:alphaModFix/>
          </a:blip>
          <a:srcRect b="0" l="26029" r="59601" t="0"/>
          <a:stretch/>
        </p:blipFill>
        <p:spPr>
          <a:xfrm>
            <a:off x="2949120" y="5807880"/>
            <a:ext cx="11516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7"/>
          <p:cNvPicPr preferRelativeResize="0"/>
          <p:nvPr/>
        </p:nvPicPr>
        <p:blipFill rotWithShape="1">
          <a:blip r:embed="rId4">
            <a:alphaModFix/>
          </a:blip>
          <a:srcRect b="0" l="46566" r="0" t="0"/>
          <a:stretch/>
        </p:blipFill>
        <p:spPr>
          <a:xfrm>
            <a:off x="4966920" y="5727600"/>
            <a:ext cx="4285440" cy="1159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20" name="Google Shape;2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960" y="6020640"/>
            <a:ext cx="1728000" cy="108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755120" y="6203520"/>
            <a:ext cx="15714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9"/>
          <p:cNvSpPr/>
          <p:nvPr/>
        </p:nvSpPr>
        <p:spPr>
          <a:xfrm>
            <a:off x="4212000" y="8640"/>
            <a:ext cx="493164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b="0" i="0" lang="pt-BR" sz="2400" u="none" cap="none" strike="noStrik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29"/>
          <p:cNvCxnSpPr/>
          <p:nvPr/>
        </p:nvCxnSpPr>
        <p:spPr>
          <a:xfrm flipH="1" rot="10800000">
            <a:off x="0" y="6560640"/>
            <a:ext cx="7752240" cy="10080"/>
          </a:xfrm>
          <a:prstGeom prst="straightConnector1">
            <a:avLst/>
          </a:prstGeom>
          <a:noFill/>
          <a:ln cap="flat" cmpd="sng" w="38100">
            <a:solidFill>
              <a:srgbClr val="BE4B4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2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Relationship Id="rId7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47.png"/><Relationship Id="rId6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Relationship Id="rId4" Type="http://schemas.openxmlformats.org/officeDocument/2006/relationships/image" Target="../media/image28.png"/><Relationship Id="rId9" Type="http://schemas.openxmlformats.org/officeDocument/2006/relationships/image" Target="../media/image24.png"/><Relationship Id="rId5" Type="http://schemas.openxmlformats.org/officeDocument/2006/relationships/image" Target="../media/image41.png"/><Relationship Id="rId6" Type="http://schemas.openxmlformats.org/officeDocument/2006/relationships/image" Target="../media/image29.png"/><Relationship Id="rId7" Type="http://schemas.openxmlformats.org/officeDocument/2006/relationships/image" Target="../media/image43.png"/><Relationship Id="rId8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Relationship Id="rId4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png"/><Relationship Id="rId4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7640" y="921960"/>
            <a:ext cx="4385160" cy="27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"/>
          <p:cNvSpPr/>
          <p:nvPr/>
        </p:nvSpPr>
        <p:spPr>
          <a:xfrm>
            <a:off x="265320" y="3861000"/>
            <a:ext cx="8627040" cy="14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b="1" i="0" lang="pt-BR" sz="3200" u="none" cap="none" strike="noStrik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Tecnologia em Ciência de Dados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b="1" i="0" lang="pt-BR" sz="3200" u="none" cap="none" strike="noStrik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de Máquina 2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800"/>
              <a:buFont typeface="Verdana"/>
              <a:buNone/>
            </a:pPr>
            <a:r>
              <a:rPr b="0" i="0" lang="pt-BR" sz="2800" u="none" cap="none" strike="noStrik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Professor Kaique Almeida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/>
          <p:nvPr/>
        </p:nvSpPr>
        <p:spPr>
          <a:xfrm>
            <a:off x="-2160" y="0"/>
            <a:ext cx="8229240" cy="35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400"/>
              <a:buFont typeface="Verdana"/>
              <a:buNone/>
            </a:pPr>
            <a:r>
              <a:rPr b="0" i="0" lang="pt-BR" sz="2400" u="none" cap="none" strike="noStrik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Agenda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0" y="548644"/>
            <a:ext cx="8229300" cy="19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Aprendizado Bayesiano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3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Naive Bayes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343080" lvl="3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2400"/>
              <a:buFont typeface="Verdana"/>
              <a:buChar char="✔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Exemplos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190680" lvl="6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6eb4f487f_0_228"/>
          <p:cNvSpPr/>
          <p:nvPr/>
        </p:nvSpPr>
        <p:spPr>
          <a:xfrm>
            <a:off x="1162774" y="669150"/>
            <a:ext cx="62283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b="1" lang="pt-BR" sz="32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Bayesiano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6eb4f487f_0_259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Bayesiano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96eb4f487f_0_259"/>
          <p:cNvSpPr/>
          <p:nvPr/>
        </p:nvSpPr>
        <p:spPr>
          <a:xfrm>
            <a:off x="383450" y="1444600"/>
            <a:ext cx="82293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Forma de aprendizado baseado no teorema de Bayes.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Em resumo: “atualizar nossa crença, com base nos novos dados que observamos”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906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819ea1120_0_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Bayesiano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d819ea112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050" y="1085397"/>
            <a:ext cx="3084175" cy="10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d819ea1120_0_8"/>
          <p:cNvSpPr/>
          <p:nvPr/>
        </p:nvSpPr>
        <p:spPr>
          <a:xfrm>
            <a:off x="640025" y="2579325"/>
            <a:ext cx="82293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A probabilidade de observar um evento A dado que ocorreu B é igual a probabilidade conjunta de ocorrer A e B, sobre a probabilidade de ocorrer B.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De forma mais intuitiva: dentro dos casos onde B aconteceu, qual a fração em que A também acontece?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906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819ea1120_0_1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Bayesiano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d819ea1120_0_17"/>
          <p:cNvSpPr/>
          <p:nvPr/>
        </p:nvSpPr>
        <p:spPr>
          <a:xfrm>
            <a:off x="640025" y="2579325"/>
            <a:ext cx="82293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A probabilidade de observar um evento A dado que ocorreu B é igual a probabilidade conjunta de ocorrer A e B, sobre a probabilidade de ocorrer B.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De forma mais intuitiva: dentro dos casos onde B aconteceu, qual a fração em que A também acontece?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906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2" name="Google Shape;202;g3d819ea1120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2763" y="1292635"/>
            <a:ext cx="303847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819ea1120_0_2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Bayesiano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d819ea1120_0_24"/>
          <p:cNvSpPr/>
          <p:nvPr/>
        </p:nvSpPr>
        <p:spPr>
          <a:xfrm>
            <a:off x="640025" y="2579325"/>
            <a:ext cx="8229300" cy="3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De 100 pessoas: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	40 gostam de café p(B)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	10 gostam de café e de chocolate p(A,B)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Se eu sei que uma pessoa gosta de café, qual a chance dela gostar de chocolate? p(A|B)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906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0" name="Google Shape;210;g3d819ea1120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575" y="1105160"/>
            <a:ext cx="303847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d819ea1120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7863" y="5224663"/>
            <a:ext cx="444817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d819ea1120_0_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8850" y="5530275"/>
            <a:ext cx="110490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819ea1120_0_3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Bayesiano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g3d819ea1120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75" y="1489985"/>
            <a:ext cx="28479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d819ea1120_0_36"/>
          <p:cNvSpPr/>
          <p:nvPr/>
        </p:nvSpPr>
        <p:spPr>
          <a:xfrm>
            <a:off x="344130" y="656103"/>
            <a:ext cx="82293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Teorema de Bayes</a:t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1" name="Google Shape;221;g3d819ea1120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4275" y="1489985"/>
            <a:ext cx="28479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d819ea1120_0_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7488" y="2886085"/>
            <a:ext cx="362902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d819ea1120_0_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95538" y="4065113"/>
            <a:ext cx="43529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d819ea1120_0_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41602" y="4882675"/>
            <a:ext cx="4533248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d819ea1120_0_36"/>
          <p:cNvSpPr txBox="1"/>
          <p:nvPr/>
        </p:nvSpPr>
        <p:spPr>
          <a:xfrm>
            <a:off x="226950" y="5149713"/>
            <a:ext cx="284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Teorema de Bayes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819ea1120_0_5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Bayesiano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g3d819ea1120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2026" y="2824772"/>
            <a:ext cx="28479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d819ea1120_0_53"/>
          <p:cNvSpPr/>
          <p:nvPr/>
        </p:nvSpPr>
        <p:spPr>
          <a:xfrm>
            <a:off x="962153" y="1445525"/>
            <a:ext cx="22695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Por que isso:</a:t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4" name="Google Shape;234;g3d819ea1120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729" y="1153025"/>
            <a:ext cx="4533248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d819ea1120_0_53"/>
          <p:cNvSpPr txBox="1"/>
          <p:nvPr/>
        </p:nvSpPr>
        <p:spPr>
          <a:xfrm>
            <a:off x="4153350" y="4647650"/>
            <a:ext cx="494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b="1" sz="3800"/>
          </a:p>
        </p:txBody>
      </p:sp>
      <p:sp>
        <p:nvSpPr>
          <p:cNvPr id="236" name="Google Shape;236;g3d819ea1120_0_53"/>
          <p:cNvSpPr/>
          <p:nvPr/>
        </p:nvSpPr>
        <p:spPr>
          <a:xfrm>
            <a:off x="962151" y="3008850"/>
            <a:ext cx="2639400" cy="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é melhor</a:t>
            </a: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 que isso:</a:t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819ea1120_0_6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Bayesiano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3d819ea1120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082" y="875650"/>
            <a:ext cx="10953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d819ea1120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76" y="855915"/>
            <a:ext cx="11620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d819ea1120_0_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675" y="1544090"/>
            <a:ext cx="11620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d819ea1120_0_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3675" y="1544090"/>
            <a:ext cx="116205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d819ea1120_0_66"/>
          <p:cNvSpPr/>
          <p:nvPr/>
        </p:nvSpPr>
        <p:spPr>
          <a:xfrm rot="-1614">
            <a:off x="1673954" y="975766"/>
            <a:ext cx="639000" cy="3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819ea1120_0_66"/>
          <p:cNvSpPr/>
          <p:nvPr/>
        </p:nvSpPr>
        <p:spPr>
          <a:xfrm rot="-1614">
            <a:off x="1688207" y="1562342"/>
            <a:ext cx="639000" cy="3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819ea1120_0_66"/>
          <p:cNvSpPr/>
          <p:nvPr/>
        </p:nvSpPr>
        <p:spPr>
          <a:xfrm rot="-1614">
            <a:off x="3493982" y="970284"/>
            <a:ext cx="639000" cy="3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d819ea1120_0_66"/>
          <p:cNvSpPr/>
          <p:nvPr/>
        </p:nvSpPr>
        <p:spPr>
          <a:xfrm rot="-1614">
            <a:off x="3508236" y="1556860"/>
            <a:ext cx="639000" cy="3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819ea1120_0_66"/>
          <p:cNvSpPr txBox="1"/>
          <p:nvPr/>
        </p:nvSpPr>
        <p:spPr>
          <a:xfrm>
            <a:off x="4351644" y="906547"/>
            <a:ext cx="47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Probabilidade Conjunta</a:t>
            </a:r>
            <a:endParaRPr sz="1800"/>
          </a:p>
        </p:txBody>
      </p:sp>
      <p:sp>
        <p:nvSpPr>
          <p:cNvPr id="252" name="Google Shape;252;g3d819ea1120_0_66"/>
          <p:cNvSpPr txBox="1"/>
          <p:nvPr/>
        </p:nvSpPr>
        <p:spPr>
          <a:xfrm>
            <a:off x="4365898" y="1473387"/>
            <a:ext cx="47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Probabilidade Condicional</a:t>
            </a:r>
            <a:endParaRPr sz="1800"/>
          </a:p>
        </p:txBody>
      </p:sp>
      <p:sp>
        <p:nvSpPr>
          <p:cNvPr id="253" name="Google Shape;253;g3d819ea1120_0_66"/>
          <p:cNvSpPr txBox="1"/>
          <p:nvPr/>
        </p:nvSpPr>
        <p:spPr>
          <a:xfrm>
            <a:off x="486697" y="2523737"/>
            <a:ext cx="47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Se houverem variáveis 20 variáveis binárias:</a:t>
            </a:r>
            <a:endParaRPr sz="1800"/>
          </a:p>
        </p:txBody>
      </p:sp>
      <p:pic>
        <p:nvPicPr>
          <p:cNvPr id="254" name="Google Shape;254;g3d819ea1120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182" y="3356788"/>
            <a:ext cx="10953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d819ea1120_0_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87195" y="3366316"/>
            <a:ext cx="286702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d819ea1120_0_66"/>
          <p:cNvSpPr/>
          <p:nvPr/>
        </p:nvSpPr>
        <p:spPr>
          <a:xfrm rot="-1614">
            <a:off x="1794882" y="3417504"/>
            <a:ext cx="639000" cy="3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819ea1120_0_66"/>
          <p:cNvSpPr txBox="1"/>
          <p:nvPr/>
        </p:nvSpPr>
        <p:spPr>
          <a:xfrm>
            <a:off x="5538473" y="3417350"/>
            <a:ext cx="16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Combinações</a:t>
            </a:r>
            <a:endParaRPr sz="1800"/>
          </a:p>
        </p:txBody>
      </p:sp>
      <p:pic>
        <p:nvPicPr>
          <p:cNvPr id="258" name="Google Shape;258;g3d819ea1120_0_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13405" y="4140900"/>
            <a:ext cx="28670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d819ea1120_0_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102" y="4202869"/>
            <a:ext cx="116205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d819ea1120_0_66"/>
          <p:cNvSpPr/>
          <p:nvPr/>
        </p:nvSpPr>
        <p:spPr>
          <a:xfrm rot="-1614">
            <a:off x="1779532" y="4260638"/>
            <a:ext cx="639000" cy="3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d819ea1120_0_66"/>
          <p:cNvSpPr txBox="1"/>
          <p:nvPr/>
        </p:nvSpPr>
        <p:spPr>
          <a:xfrm>
            <a:off x="5552727" y="4151940"/>
            <a:ext cx="16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Combinações</a:t>
            </a:r>
            <a:endParaRPr sz="1800"/>
          </a:p>
        </p:txBody>
      </p:sp>
      <p:pic>
        <p:nvPicPr>
          <p:cNvPr id="262" name="Google Shape;262;g3d819ea1120_0_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1252" y="5440244"/>
            <a:ext cx="116205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d819ea1120_0_66"/>
          <p:cNvSpPr txBox="1"/>
          <p:nvPr/>
        </p:nvSpPr>
        <p:spPr>
          <a:xfrm>
            <a:off x="3892776" y="5400800"/>
            <a:ext cx="446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Permite quebrar o problema por classe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Baysiano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344130" y="656103"/>
            <a:ext cx="8229240" cy="689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Teorema de Bayes</a:t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1" name="Google Shape;27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675" y="2733676"/>
            <a:ext cx="596265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"/>
          <p:cNvSpPr/>
          <p:nvPr/>
        </p:nvSpPr>
        <p:spPr>
          <a:xfrm rot="1707226">
            <a:off x="1190058" y="2923716"/>
            <a:ext cx="639102" cy="34539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"/>
          <p:cNvSpPr txBox="1"/>
          <p:nvPr/>
        </p:nvSpPr>
        <p:spPr>
          <a:xfrm>
            <a:off x="473634" y="2476784"/>
            <a:ext cx="115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Posterior</a:t>
            </a:r>
            <a:endParaRPr sz="1800"/>
          </a:p>
        </p:txBody>
      </p:sp>
      <p:sp>
        <p:nvSpPr>
          <p:cNvPr id="274" name="Google Shape;274;p4"/>
          <p:cNvSpPr txBox="1"/>
          <p:nvPr/>
        </p:nvSpPr>
        <p:spPr>
          <a:xfrm>
            <a:off x="6921613" y="1808538"/>
            <a:ext cx="115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Prior</a:t>
            </a:r>
            <a:endParaRPr sz="1800"/>
          </a:p>
        </p:txBody>
      </p:sp>
      <p:sp>
        <p:nvSpPr>
          <p:cNvPr id="275" name="Google Shape;275;p4"/>
          <p:cNvSpPr/>
          <p:nvPr/>
        </p:nvSpPr>
        <p:spPr>
          <a:xfrm rot="8816200">
            <a:off x="6446057" y="2300628"/>
            <a:ext cx="638970" cy="34540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/>
          <p:nvPr/>
        </p:nvSpPr>
        <p:spPr>
          <a:xfrm rot="5400000">
            <a:off x="4088741" y="2308127"/>
            <a:ext cx="639000" cy="3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"/>
          <p:cNvSpPr txBox="1"/>
          <p:nvPr/>
        </p:nvSpPr>
        <p:spPr>
          <a:xfrm>
            <a:off x="3413146" y="1662972"/>
            <a:ext cx="209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Verossimilhança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819ea1120_0_99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Aprendizado Baysiano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d819ea1120_0_99"/>
          <p:cNvSpPr/>
          <p:nvPr/>
        </p:nvSpPr>
        <p:spPr>
          <a:xfrm>
            <a:off x="344130" y="656103"/>
            <a:ext cx="82293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Classificador Bayesiano</a:t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5" name="Google Shape;285;g3d819ea1120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575" y="1344580"/>
            <a:ext cx="44672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d819ea1120_0_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8913" y="2159364"/>
            <a:ext cx="51625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d819ea1120_0_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320728"/>
            <a:ext cx="87630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3d819ea1120_0_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7600" y="4002250"/>
            <a:ext cx="906450" cy="90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819ea1120_0_118"/>
          <p:cNvSpPr/>
          <p:nvPr/>
        </p:nvSpPr>
        <p:spPr>
          <a:xfrm>
            <a:off x="1162774" y="669150"/>
            <a:ext cx="62283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b="1" lang="pt-BR" sz="32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Bayes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819ea1120_0_12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d819ea1120_0_122"/>
          <p:cNvSpPr/>
          <p:nvPr/>
        </p:nvSpPr>
        <p:spPr>
          <a:xfrm>
            <a:off x="275050" y="794235"/>
            <a:ext cx="82293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Classificador Bayesiano com uma suposiç</a:t>
            </a: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ão ingênua (naive)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Suposição de que as variáveis são independentes entre si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Apesar de na maioria dos casos essa suposição não ser verdadeira, os resultados dela são úteis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819ea1120_0_13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g3d819ea1120_0_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8598" y="1618285"/>
            <a:ext cx="48387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d819ea1120_0_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3525" y="3631135"/>
            <a:ext cx="40290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d819ea1120_0_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0375" y="3649035"/>
            <a:ext cx="2400300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d819ea1120_0_132"/>
          <p:cNvSpPr/>
          <p:nvPr/>
        </p:nvSpPr>
        <p:spPr>
          <a:xfrm rot="-1614">
            <a:off x="3726033" y="3780359"/>
            <a:ext cx="639000" cy="3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d819ea1120_0_132"/>
          <p:cNvSpPr txBox="1"/>
          <p:nvPr/>
        </p:nvSpPr>
        <p:spPr>
          <a:xfrm>
            <a:off x="1064898" y="1887500"/>
            <a:ext cx="240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Suposição Naive:</a:t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819ea1120_0_143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g3d819ea1120_0_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25" y="907801"/>
            <a:ext cx="3459150" cy="273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819ea1120_0_15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g3d819ea1120_0_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700" y="680826"/>
            <a:ext cx="7475274" cy="3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d819ea1120_0_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700" y="4865651"/>
            <a:ext cx="437197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819ea1120_0_16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g3d819ea1120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700" y="680826"/>
            <a:ext cx="7475274" cy="3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3d819ea1120_0_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243" y="4828050"/>
            <a:ext cx="3552350" cy="165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3d819ea1120_0_1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5174" y="4786676"/>
            <a:ext cx="3552350" cy="1759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819ea1120_0_17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d819ea1120_0_176"/>
          <p:cNvSpPr txBox="1"/>
          <p:nvPr/>
        </p:nvSpPr>
        <p:spPr>
          <a:xfrm>
            <a:off x="355251" y="1078350"/>
            <a:ext cx="310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Chega um novo email</a:t>
            </a:r>
            <a:r>
              <a:rPr lang="pt-BR" sz="2100"/>
              <a:t>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	promoç</a:t>
            </a:r>
            <a:r>
              <a:rPr lang="pt-BR" sz="2100"/>
              <a:t>ão = 1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	urgente = 1</a:t>
            </a:r>
            <a:endParaRPr sz="2100"/>
          </a:p>
        </p:txBody>
      </p:sp>
      <p:pic>
        <p:nvPicPr>
          <p:cNvPr id="343" name="Google Shape;343;g3d819ea1120_0_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00" y="2918225"/>
            <a:ext cx="4182925" cy="14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d819ea1120_0_1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3710" y="2603900"/>
            <a:ext cx="19526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d819ea1120_0_1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1871" y="2461425"/>
            <a:ext cx="23812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3d819ea1120_0_1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8675" y="4275408"/>
            <a:ext cx="1571225" cy="76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d819ea1120_0_1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5473" y="3056372"/>
            <a:ext cx="4524877" cy="11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d819ea1120_0_1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64425" y="4374365"/>
            <a:ext cx="1416550" cy="4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d819ea1120_0_1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08187" y="4250150"/>
            <a:ext cx="587975" cy="5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d819ea1120_0_1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23825" y="5555475"/>
            <a:ext cx="3444375" cy="6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d819ea1120_0_176"/>
          <p:cNvSpPr/>
          <p:nvPr/>
        </p:nvSpPr>
        <p:spPr>
          <a:xfrm>
            <a:off x="1303600" y="4250150"/>
            <a:ext cx="1952700" cy="7608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d819ea1120_0_176"/>
          <p:cNvSpPr txBox="1"/>
          <p:nvPr/>
        </p:nvSpPr>
        <p:spPr>
          <a:xfrm>
            <a:off x="2030475" y="5709350"/>
            <a:ext cx="295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Obs: Suavização de Laplace</a:t>
            </a:r>
            <a:endParaRPr sz="1700"/>
          </a:p>
        </p:txBody>
      </p:sp>
      <p:sp>
        <p:nvSpPr>
          <p:cNvPr id="353" name="Google Shape;353;g3d819ea1120_0_176"/>
          <p:cNvSpPr/>
          <p:nvPr/>
        </p:nvSpPr>
        <p:spPr>
          <a:xfrm>
            <a:off x="1702675" y="5512680"/>
            <a:ext cx="6793500" cy="7608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819ea1120_0_19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d819ea1120_0_197"/>
          <p:cNvSpPr/>
          <p:nvPr/>
        </p:nvSpPr>
        <p:spPr>
          <a:xfrm>
            <a:off x="383450" y="1306453"/>
            <a:ext cx="8229300" cy="4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Treinamento e predição eficientes</a:t>
            </a:r>
            <a:endParaRPr sz="2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Lida bem com grandes datasets</a:t>
            </a:r>
            <a:endParaRPr sz="2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Não requer muitos dados</a:t>
            </a:r>
            <a:endParaRPr sz="2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Usa novas evidencias para atualizar conhecimento</a:t>
            </a:r>
            <a:endParaRPr sz="2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Lida bem com alta dimensionalidade</a:t>
            </a:r>
            <a:endParaRPr sz="2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Baixo risco de overfitting</a:t>
            </a:r>
            <a:endParaRPr sz="2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Interpretabilidade</a:t>
            </a:r>
            <a:endParaRPr sz="24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Suposição falsa</a:t>
            </a:r>
            <a:endParaRPr sz="24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Ignora relações entre as features</a:t>
            </a:r>
            <a:endParaRPr sz="24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Verdana"/>
              <a:buChar char="•"/>
            </a:pPr>
            <a:r>
              <a:rPr lang="pt-BR" sz="24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Pode acertar nas classificações mas ser muito impreciso nas probabilidades</a:t>
            </a:r>
            <a:endParaRPr sz="24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906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819ea1120_0_23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d819ea1120_0_236"/>
          <p:cNvSpPr txBox="1"/>
          <p:nvPr/>
        </p:nvSpPr>
        <p:spPr>
          <a:xfrm>
            <a:off x="394725" y="861275"/>
            <a:ext cx="776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Exemplo de Naive Bayes aplicado a segurança em IoT</a:t>
            </a:r>
            <a:endParaRPr sz="2100"/>
          </a:p>
        </p:txBody>
      </p:sp>
      <p:pic>
        <p:nvPicPr>
          <p:cNvPr id="368" name="Google Shape;368;g3d819ea1120_0_2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1575"/>
            <a:ext cx="8839201" cy="4248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819ea1120_0_215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d819ea1120_0_215"/>
          <p:cNvSpPr/>
          <p:nvPr/>
        </p:nvSpPr>
        <p:spPr>
          <a:xfrm>
            <a:off x="143225" y="1149456"/>
            <a:ext cx="8229300" cy="16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DoS: Ataque de negação de serviço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Dataset treino: NSL-KDD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Char char="•"/>
            </a:pPr>
            <a:r>
              <a:rPr lang="pt-BR" sz="2400">
                <a:latin typeface="Verdana"/>
                <a:ea typeface="Verdana"/>
                <a:cs typeface="Verdana"/>
                <a:sym typeface="Verdana"/>
              </a:rPr>
              <a:t>Dataset teste: dados reais coletados em um raspberry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76" name="Google Shape;376;g3d819ea1120_0_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300" y="3006206"/>
            <a:ext cx="73914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g3d819ea1120_0_2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581" y="4467981"/>
            <a:ext cx="73914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819ea1120_0_22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Naive Byes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d819ea1120_0_226"/>
          <p:cNvSpPr/>
          <p:nvPr/>
        </p:nvSpPr>
        <p:spPr>
          <a:xfrm>
            <a:off x="547100" y="4612981"/>
            <a:ext cx="8229300" cy="16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76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Alto recall:modelo detecta praticamente todos os ataques. Alta sensibilidade.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176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Baixa precisão: Metade dos alertas são falsos. Baixa confiabilidade.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85" name="Google Shape;385;g3d819ea1120_0_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88" y="3168256"/>
            <a:ext cx="724852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d819ea1120_0_2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900" y="1109460"/>
            <a:ext cx="826770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819ea1120_0_244"/>
          <p:cNvSpPr/>
          <p:nvPr/>
        </p:nvSpPr>
        <p:spPr>
          <a:xfrm>
            <a:off x="1162774" y="669150"/>
            <a:ext cx="62283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3200"/>
              <a:buFont typeface="Verdana"/>
              <a:buNone/>
            </a:pPr>
            <a:r>
              <a:rPr b="1" lang="pt-BR" sz="32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Classificação de Modelos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819ea1120_0_248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Classificação de Modelos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d819ea1120_0_248"/>
          <p:cNvSpPr/>
          <p:nvPr/>
        </p:nvSpPr>
        <p:spPr>
          <a:xfrm>
            <a:off x="399100" y="1149452"/>
            <a:ext cx="8229300" cy="1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76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Paramétrico x Não Paramétrico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176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Char char="•"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Generativo x Discriminativo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9" name="Google Shape;399;g3d819ea1120_0_248"/>
          <p:cNvSpPr/>
          <p:nvPr/>
        </p:nvSpPr>
        <p:spPr>
          <a:xfrm>
            <a:off x="457350" y="2836806"/>
            <a:ext cx="8229300" cy="16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000">
                <a:latin typeface="Verdana"/>
                <a:ea typeface="Verdana"/>
                <a:cs typeface="Verdana"/>
                <a:sym typeface="Verdana"/>
              </a:rPr>
              <a:t>Estas distinções revelam quais suposições o modelo faz e como ele aprende com os dados. Também nos permite verificar vantagens e limitações.</a:t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819ea1120_0_257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Classificação de Modelos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d819ea1120_0_257"/>
          <p:cNvSpPr/>
          <p:nvPr/>
        </p:nvSpPr>
        <p:spPr>
          <a:xfrm>
            <a:off x="532849" y="1152225"/>
            <a:ext cx="8347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latin typeface="Verdana"/>
                <a:ea typeface="Verdana"/>
                <a:cs typeface="Verdana"/>
                <a:sym typeface="Verdana"/>
              </a:rPr>
              <a:t>Paramétrico                   x           Não Paramétrico</a:t>
            </a:r>
            <a:endParaRPr b="1" sz="22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7" name="Google Shape;407;g3d819ea1120_0_257"/>
          <p:cNvSpPr/>
          <p:nvPr/>
        </p:nvSpPr>
        <p:spPr>
          <a:xfrm>
            <a:off x="53725" y="2067100"/>
            <a:ext cx="46728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Número fixo de parâmetros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Hipótese forte sobre forma dos dados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Maior viés e menor variância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8" name="Google Shape;408;g3d819ea1120_0_257"/>
          <p:cNvSpPr/>
          <p:nvPr/>
        </p:nvSpPr>
        <p:spPr>
          <a:xfrm>
            <a:off x="48241" y="3936475"/>
            <a:ext cx="3573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Treinamento rápido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Menos dados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9" name="Google Shape;409;g3d819ea1120_0_257"/>
          <p:cNvSpPr/>
          <p:nvPr/>
        </p:nvSpPr>
        <p:spPr>
          <a:xfrm>
            <a:off x="52617" y="4748324"/>
            <a:ext cx="3573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Underfitting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0" name="Google Shape;410;g3d819ea1120_0_257"/>
          <p:cNvSpPr/>
          <p:nvPr/>
        </p:nvSpPr>
        <p:spPr>
          <a:xfrm>
            <a:off x="4747500" y="2017750"/>
            <a:ext cx="43407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Não há uma forma fixa no modelo. 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Número de parâmetros cresce com o modelo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Menor viés e maior variância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1" name="Google Shape;411;g3d819ea1120_0_257"/>
          <p:cNvSpPr/>
          <p:nvPr/>
        </p:nvSpPr>
        <p:spPr>
          <a:xfrm>
            <a:off x="4742017" y="3887131"/>
            <a:ext cx="3573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Treinamento mais lento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Mais dados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2" name="Google Shape;412;g3d819ea1120_0_257"/>
          <p:cNvSpPr/>
          <p:nvPr/>
        </p:nvSpPr>
        <p:spPr>
          <a:xfrm>
            <a:off x="4756260" y="4817392"/>
            <a:ext cx="3573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Overfitting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819ea1120_0_272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Classificação de Modelos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d819ea1120_0_272"/>
          <p:cNvSpPr/>
          <p:nvPr/>
        </p:nvSpPr>
        <p:spPr>
          <a:xfrm>
            <a:off x="532849" y="1152225"/>
            <a:ext cx="8347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Discriminativo</a:t>
            </a:r>
            <a:r>
              <a:rPr b="1" lang="pt-BR" sz="2200">
                <a:latin typeface="Verdana"/>
                <a:ea typeface="Verdana"/>
                <a:cs typeface="Verdana"/>
                <a:sym typeface="Verdana"/>
              </a:rPr>
              <a:t>                   x           Generativo</a:t>
            </a:r>
            <a:endParaRPr b="1" sz="22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0" name="Google Shape;420;g3d819ea1120_0_272"/>
          <p:cNvSpPr/>
          <p:nvPr/>
        </p:nvSpPr>
        <p:spPr>
          <a:xfrm>
            <a:off x="83450" y="2261919"/>
            <a:ext cx="46728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Dado a entrada, qual a saída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Foco na fronteira de decisão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Não gera probabilidades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1" name="Google Shape;421;g3d819ea1120_0_272"/>
          <p:cNvSpPr/>
          <p:nvPr/>
        </p:nvSpPr>
        <p:spPr>
          <a:xfrm>
            <a:off x="4747500" y="2215103"/>
            <a:ext cx="4340700" cy="14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Aprende a distribuição dos dados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Funciona bem com poucos dados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Interpretável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2" name="Google Shape;422;g3d819ea1120_0_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225" y="1647992"/>
            <a:ext cx="13239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3d819ea1120_0_2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6694" y="1560896"/>
            <a:ext cx="2266950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d819ea1120_0_28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Classificação de Modelos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d819ea1120_0_286"/>
          <p:cNvSpPr/>
          <p:nvPr/>
        </p:nvSpPr>
        <p:spPr>
          <a:xfrm>
            <a:off x="260850" y="1433062"/>
            <a:ext cx="4672800" cy="4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KNN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Regressão Logística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Árvore de Decisão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Random Forest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XGBoost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Naive Bayes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819ea1120_0_296"/>
          <p:cNvSpPr/>
          <p:nvPr/>
        </p:nvSpPr>
        <p:spPr>
          <a:xfrm>
            <a:off x="10" y="71060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lang="pt-BR" sz="2600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Classificação de Modelos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d819ea1120_0_296"/>
          <p:cNvSpPr/>
          <p:nvPr/>
        </p:nvSpPr>
        <p:spPr>
          <a:xfrm>
            <a:off x="260850" y="1433050"/>
            <a:ext cx="8708700" cy="4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KNN                               N</a:t>
            </a: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ão Paramétrico       Discriminativo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Regressão Logística        Param</a:t>
            </a: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étrico		        Discriminativo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Árvore de Decisão           N</a:t>
            </a: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ão Paramétrico       Discriminativo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Random Forest                N</a:t>
            </a: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ão Paramétrico	 Discriminativo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XGBoost 				   N</a:t>
            </a: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ão Paramétrico       Discriminativo</a:t>
            </a: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	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-31133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Verdana"/>
              <a:buChar char="•"/>
            </a:pP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Naive Bayes			        </a:t>
            </a:r>
            <a:r>
              <a:rPr lang="pt-BR" sz="1900">
                <a:latin typeface="Verdana"/>
                <a:ea typeface="Verdana"/>
                <a:cs typeface="Verdana"/>
                <a:sym typeface="Verdana"/>
              </a:rPr>
              <a:t>Paramétrico               Generativo</a:t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4"/>
          <p:cNvSpPr/>
          <p:nvPr/>
        </p:nvSpPr>
        <p:spPr>
          <a:xfrm>
            <a:off x="2060710" y="3130035"/>
            <a:ext cx="51945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0000"/>
              </a:buClr>
              <a:buSzPts val="2000"/>
              <a:buFont typeface="Verdana"/>
              <a:buNone/>
            </a:pPr>
            <a:r>
              <a:rPr b="0" i="0" lang="pt-BR" sz="2600" u="none" cap="none" strike="noStrike">
                <a:solidFill>
                  <a:srgbClr val="A20000"/>
                </a:solidFill>
                <a:latin typeface="Verdana"/>
                <a:ea typeface="Verdana"/>
                <a:cs typeface="Verdana"/>
                <a:sym typeface="Verdana"/>
              </a:rPr>
              <a:t>FIM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2013-10-10T17:31:52Z</dcterms:created>
  <dc:creator>Victor Akio Zukeran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0x01010073806014F133DA42B05483D3695C6CCB</vt:lpwstr>
  </property>
  <property fmtid="{D5CDD505-2E9C-101B-9397-08002B2CF9AE}" pid="3" name="HiddenSlides">
    <vt:i4>1</vt:i4>
  </property>
  <property fmtid="{D5CDD505-2E9C-101B-9397-08002B2CF9AE}" pid="4" name="Notes">
    <vt:i4>1</vt:i4>
  </property>
  <property fmtid="{D5CDD505-2E9C-101B-9397-08002B2CF9AE}" pid="5" name="PresentationFormat">
    <vt:lpwstr>Apresentação na tela (4:3)</vt:lpwstr>
  </property>
  <property fmtid="{D5CDD505-2E9C-101B-9397-08002B2CF9AE}" pid="6" name="Slides">
    <vt:i4>27</vt:i4>
  </property>
</Properties>
</file>