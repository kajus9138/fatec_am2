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1" r:id="rId2"/>
  </p:sldMasterIdLst>
  <p:notesMasterIdLst>
    <p:notesMasterId r:id="rId3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0" roundtripDataSignature="AMtx7mjJpHGAiSYsiaNtpd4kVGrdrhmS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5515C19-4ACD-4DB5-B0D4-AFF5DD21CC70}">
  <a:tblStyle styleId="{D5515C19-4ACD-4DB5-B0D4-AFF5DD21CC7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40" Type="http://customschemas.google.com/relationships/presentationmetadata" Target="metadata"/><Relationship Id="rId45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ique Almeida Justino da Silva" userId="80cecd39-0bb3-4568-aadc-2c47a6d51773" providerId="ADAL" clId="{104D16F3-0830-409B-B338-B1F24D90F70E}"/>
    <pc:docChg chg="modSld">
      <pc:chgData name="Kaique Almeida Justino da Silva" userId="80cecd39-0bb3-4568-aadc-2c47a6d51773" providerId="ADAL" clId="{104D16F3-0830-409B-B338-B1F24D90F70E}" dt="2026-05-06T00:48:09.307" v="0" actId="1076"/>
      <pc:docMkLst>
        <pc:docMk/>
      </pc:docMkLst>
      <pc:sldChg chg="modSp mod">
        <pc:chgData name="Kaique Almeida Justino da Silva" userId="80cecd39-0bb3-4568-aadc-2c47a6d51773" providerId="ADAL" clId="{104D16F3-0830-409B-B338-B1F24D90F70E}" dt="2026-05-06T00:48:09.307" v="0" actId="1076"/>
        <pc:sldMkLst>
          <pc:docMk/>
          <pc:sldMk cId="0" sldId="287"/>
        </pc:sldMkLst>
        <pc:picChg chg="mod">
          <ac:chgData name="Kaique Almeida Justino da Silva" userId="80cecd39-0bb3-4568-aadc-2c47a6d51773" providerId="ADAL" clId="{104D16F3-0830-409B-B338-B1F24D90F70E}" dt="2026-05-06T00:48:09.307" v="0" actId="1076"/>
          <ac:picMkLst>
            <pc:docMk/>
            <pc:sldMk cId="0" sldId="287"/>
            <ac:picMk id="399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pt-BR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‹nº›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1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" name="Google Shape;1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6eb4f487f_0_228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7" name="Google Shape;177;g396eb4f487f_0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6eb4f487f_0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g396eb4f487f_0_259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g396eb4f487f_0_259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8b32cb07e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600" cy="400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" name="Google Shape;189;g3d8b32cb07e_0_6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0" name="Google Shape;190;g3d8b32cb07e_0_6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a901bcda4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600" cy="400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g39a901bcda4_0_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g39a901bcda4_0_2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d8b32cb07e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600" cy="400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g3d8b32cb07e_0_13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5" name="Google Shape;205;g3d8b32cb07e_0_13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8b32cb07e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600" cy="400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g3d8b32cb07e_0_2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4" name="Google Shape;214;g3d8b32cb07e_0_22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8b32cb07e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600" cy="400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g3d8b32cb07e_0_30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3" name="Google Shape;223;g3d8b32cb07e_0_30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979f0e7787_0_0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9" name="Google Shape;229;g3979f0e778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600" cy="400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9a806c179b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600" cy="400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4" name="Google Shape;234;g39a806c179b_0_10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5" name="Google Shape;235;g39a806c179b_0_10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9a806c179b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600" cy="400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" name="Google Shape;241;g39a806c179b_0_11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2" name="Google Shape;242;g39a806c179b_0_112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9a806c179b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600" cy="400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g39a806c179b_0_118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0" name="Google Shape;250;g39a806c179b_0_118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9a806c179b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600" cy="400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7" name="Google Shape;257;g39a806c179b_0_126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8" name="Google Shape;258;g39a806c179b_0_126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9a806c179b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600" cy="400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4" name="Google Shape;264;g39a806c179b_0_134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5" name="Google Shape;265;g39a806c179b_0_134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dc557d8a1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600" cy="400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1" name="Google Shape;271;g3dc557d8a10_0_6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2" name="Google Shape;272;g3dc557d8a10_0_6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9a806c179b_0_0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9" name="Google Shape;279;g39a806c179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600" cy="400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9a806c179b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600" cy="400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4" name="Google Shape;284;g39a806c179b_0_104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5" name="Google Shape;285;g39a806c179b_0_104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9a806c179b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1" name="Google Shape;291;g39a806c179b_0_4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2" name="Google Shape;292;g39a806c179b_0_4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9a806c179b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600" cy="400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0" name="Google Shape;300;g39a806c179b_0_2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1" name="Google Shape;301;g39a806c179b_0_21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9a806c179b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600" cy="400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2" name="Google Shape;312;g39a806c179b_0_35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3" name="Google Shape;313;g39a806c179b_0_35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9a806c179b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600" cy="400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g39a806c179b_0_53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7" name="Google Shape;327;g39a806c179b_0_53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9a806c179b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600" cy="400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3" name="Google Shape;333;g39a806c179b_0_68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4" name="Google Shape;334;g39a806c179b_0_68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9a806c179b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600" cy="400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0" name="Google Shape;340;g39a806c179b_0_93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1" name="Google Shape;341;g39a806c179b_0_93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9a806c179b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600" cy="400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1" name="Google Shape;351;g39a806c179b_0_75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2" name="Google Shape;352;g39a806c179b_0_75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9a806c179b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600" cy="400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9" name="Google Shape;359;g39a806c179b_0_8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0" name="Google Shape;360;g39a806c179b_0_82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9a806c179b_0_143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7" name="Google Shape;367;g39a806c179b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600" cy="400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dc557d8a10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600" cy="400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2" name="Google Shape;372;g3dc557d8a10_0_14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3" name="Google Shape;373;g3dc557d8a10_0_14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dc557d8a10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600" cy="400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9" name="Google Shape;379;g3dc557d8a10_0_28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0" name="Google Shape;380;g3dc557d8a10_0_28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dc557d8a10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600" cy="400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6" name="Google Shape;386;g3dc557d8a10_0_2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7" name="Google Shape;387;g3dc557d8a10_0_21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dc557d8a10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4" name="Google Shape;394;g3dc557d8a10_0_36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5" name="Google Shape;395;g3dc557d8a10_0_36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3" name="Google Shape;403;p74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4" name="Google Shape;404;p74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33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8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8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26" name="Google Shape;26;p28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3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3"/>
          <p:cNvSpPr txBox="1">
            <a:spLocks noGrp="1"/>
          </p:cNvSpPr>
          <p:nvPr>
            <p:ph type="subTitle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3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3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2" name="Google Shape;32;p33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4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4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4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4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8" name="Google Shape;38;p34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5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5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5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5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45" name="Google Shape;45;p35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6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6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6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50" name="Google Shape;50;p36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7"/>
          <p:cNvSpPr txBox="1">
            <a:spLocks noGrp="1"/>
          </p:cNvSpPr>
          <p:nvPr>
            <p:ph type="subTitle" idx="1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7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7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55" name="Google Shape;55;p37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8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8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8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8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8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8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63" name="Google Shape;63;p38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9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9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9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9"/>
          <p:cNvSpPr txBox="1">
            <a:spLocks noGrp="1"/>
          </p:cNvSpPr>
          <p:nvPr>
            <p:ph type="body" idx="3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9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9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71" name="Google Shape;71;p39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0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0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40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0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0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0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79" name="Google Shape;79;p40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1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1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1"/>
          <p:cNvSpPr txBox="1">
            <a:spLocks noGrp="1"/>
          </p:cNvSpPr>
          <p:nvPr>
            <p:ph type="body" idx="2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1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41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86" name="Google Shape;86;p41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2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2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42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42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42"/>
          <p:cNvSpPr txBox="1">
            <a:spLocks noGrp="1"/>
          </p:cNvSpPr>
          <p:nvPr>
            <p:ph type="body" idx="4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42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42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95" name="Google Shape;95;p42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3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43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43"/>
          <p:cNvSpPr txBox="1">
            <a:spLocks noGrp="1"/>
          </p:cNvSpPr>
          <p:nvPr>
            <p:ph type="body" idx="2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43"/>
          <p:cNvSpPr txBox="1">
            <a:spLocks noGrp="1"/>
          </p:cNvSpPr>
          <p:nvPr>
            <p:ph type="body" idx="3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43"/>
          <p:cNvSpPr txBox="1">
            <a:spLocks noGrp="1"/>
          </p:cNvSpPr>
          <p:nvPr>
            <p:ph type="body" idx="4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43"/>
          <p:cNvSpPr txBox="1">
            <a:spLocks noGrp="1"/>
          </p:cNvSpPr>
          <p:nvPr>
            <p:ph type="body" idx="5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43"/>
          <p:cNvSpPr txBox="1">
            <a:spLocks noGrp="1"/>
          </p:cNvSpPr>
          <p:nvPr>
            <p:ph type="body" idx="6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43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43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06" name="Google Shape;106;p43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45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6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46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46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7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8"/>
          <p:cNvSpPr txBox="1">
            <a:spLocks noGrp="1"/>
          </p:cNvSpPr>
          <p:nvPr>
            <p:ph type="subTitle" idx="1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9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49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49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49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0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50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50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50"/>
          <p:cNvSpPr txBox="1">
            <a:spLocks noGrp="1"/>
          </p:cNvSpPr>
          <p:nvPr>
            <p:ph type="body" idx="3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1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51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51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51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2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52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52"/>
          <p:cNvSpPr txBox="1">
            <a:spLocks noGrp="1"/>
          </p:cNvSpPr>
          <p:nvPr>
            <p:ph type="body" idx="2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3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53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53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53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53"/>
          <p:cNvSpPr txBox="1">
            <a:spLocks noGrp="1"/>
          </p:cNvSpPr>
          <p:nvPr>
            <p:ph type="body" idx="4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4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54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54"/>
          <p:cNvSpPr txBox="1">
            <a:spLocks noGrp="1"/>
          </p:cNvSpPr>
          <p:nvPr>
            <p:ph type="body" idx="2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54"/>
          <p:cNvSpPr txBox="1">
            <a:spLocks noGrp="1"/>
          </p:cNvSpPr>
          <p:nvPr>
            <p:ph type="body" idx="3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54"/>
          <p:cNvSpPr txBox="1">
            <a:spLocks noGrp="1"/>
          </p:cNvSpPr>
          <p:nvPr>
            <p:ph type="body" idx="4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54"/>
          <p:cNvSpPr txBox="1">
            <a:spLocks noGrp="1"/>
          </p:cNvSpPr>
          <p:nvPr>
            <p:ph type="body" idx="5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54"/>
          <p:cNvSpPr txBox="1">
            <a:spLocks noGrp="1"/>
          </p:cNvSpPr>
          <p:nvPr>
            <p:ph type="body" idx="6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7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755120" y="6203520"/>
            <a:ext cx="1571400" cy="71388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7"/>
          <p:cNvSpPr/>
          <p:nvPr/>
        </p:nvSpPr>
        <p:spPr>
          <a:xfrm>
            <a:off x="4212000" y="8640"/>
            <a:ext cx="4931640" cy="4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400"/>
              <a:buFont typeface="Verdana"/>
              <a:buNone/>
            </a:pPr>
            <a:r>
              <a:rPr lang="pt-BR" sz="24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Princípios de Ciência de Dados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" name="Google Shape;12;p27"/>
          <p:cNvCxnSpPr/>
          <p:nvPr/>
        </p:nvCxnSpPr>
        <p:spPr>
          <a:xfrm rot="10800000" flipH="1">
            <a:off x="0" y="6560640"/>
            <a:ext cx="7752240" cy="10080"/>
          </a:xfrm>
          <a:prstGeom prst="straightConnector1">
            <a:avLst/>
          </a:prstGeom>
          <a:noFill/>
          <a:ln w="38100" cap="flat" cmpd="sng">
            <a:solidFill>
              <a:srgbClr val="BE4B48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3" name="Google Shape;13;p27" descr="GGFD2166TRA Raw.tif"/>
          <p:cNvPicPr preferRelativeResize="0"/>
          <p:nvPr/>
        </p:nvPicPr>
        <p:blipFill rotWithShape="1">
          <a:blip r:embed="rId15">
            <a:alphaModFix/>
          </a:blip>
          <a:srcRect l="363" t="2153" r="9182" b="11112"/>
          <a:stretch/>
        </p:blipFill>
        <p:spPr>
          <a:xfrm>
            <a:off x="0" y="0"/>
            <a:ext cx="9143640" cy="594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7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27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27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" name="Google Shape;17;p27"/>
          <p:cNvPicPr preferRelativeResize="0"/>
          <p:nvPr/>
        </p:nvPicPr>
        <p:blipFill rotWithShape="1">
          <a:blip r:embed="rId16">
            <a:alphaModFix/>
          </a:blip>
          <a:srcRect l="28611" r="49359"/>
          <a:stretch/>
        </p:blipFill>
        <p:spPr>
          <a:xfrm>
            <a:off x="0" y="5501520"/>
            <a:ext cx="9143640" cy="135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7"/>
          <p:cNvPicPr preferRelativeResize="0"/>
          <p:nvPr/>
        </p:nvPicPr>
        <p:blipFill rotWithShape="1">
          <a:blip r:embed="rId17">
            <a:alphaModFix/>
          </a:blip>
          <a:srcRect l="26029" r="59601"/>
          <a:stretch/>
        </p:blipFill>
        <p:spPr>
          <a:xfrm>
            <a:off x="2949120" y="5807880"/>
            <a:ext cx="1151640" cy="1159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7"/>
          <p:cNvPicPr preferRelativeResize="0"/>
          <p:nvPr/>
        </p:nvPicPr>
        <p:blipFill rotWithShape="1">
          <a:blip r:embed="rId17">
            <a:alphaModFix/>
          </a:blip>
          <a:srcRect l="46566"/>
          <a:stretch/>
        </p:blipFill>
        <p:spPr>
          <a:xfrm>
            <a:off x="4966920" y="5727600"/>
            <a:ext cx="4285440" cy="1159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7" descr="Logotipo&#10;&#10;Descrição gerada automaticamente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354960" y="6020640"/>
            <a:ext cx="1728000" cy="108828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7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27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9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755120" y="6203520"/>
            <a:ext cx="1571400" cy="713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9"/>
          <p:cNvSpPr/>
          <p:nvPr/>
        </p:nvSpPr>
        <p:spPr>
          <a:xfrm>
            <a:off x="4212000" y="8640"/>
            <a:ext cx="4931640" cy="4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400"/>
              <a:buFont typeface="Verdana"/>
              <a:buNone/>
            </a:pPr>
            <a:r>
              <a:rPr lang="pt-BR" sz="24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Aprendizado de Máquina 2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" name="Google Shape;110;p29"/>
          <p:cNvCxnSpPr/>
          <p:nvPr/>
        </p:nvCxnSpPr>
        <p:spPr>
          <a:xfrm rot="10800000" flipH="1">
            <a:off x="0" y="6560640"/>
            <a:ext cx="7752240" cy="10080"/>
          </a:xfrm>
          <a:prstGeom prst="straightConnector1">
            <a:avLst/>
          </a:prstGeom>
          <a:noFill/>
          <a:ln w="38100" cap="flat" cmpd="sng">
            <a:solidFill>
              <a:srgbClr val="BE4B4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1" name="Google Shape;111;p29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" name="Google Shape;112;p29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datauniverse.com.br/clusterizacao-com-k-means-em-python-utilizando-elbow-method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-7j4n3FDGK4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gi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67640" y="921960"/>
            <a:ext cx="4385160" cy="278064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"/>
          <p:cNvSpPr/>
          <p:nvPr/>
        </p:nvSpPr>
        <p:spPr>
          <a:xfrm>
            <a:off x="265320" y="3861000"/>
            <a:ext cx="8627040" cy="1491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3200"/>
              <a:buFont typeface="Verdana"/>
              <a:buNone/>
            </a:pPr>
            <a:r>
              <a:rPr lang="pt-BR" sz="3200" b="1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Tecnologia em Ciência de Dados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3200"/>
              <a:buFont typeface="Verdana"/>
              <a:buNone/>
            </a:pPr>
            <a:r>
              <a:rPr lang="pt-BR" sz="3200" b="1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Aprendizado de Máquina 2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800"/>
              <a:buFont typeface="Verdana"/>
              <a:buNone/>
            </a:pPr>
            <a:r>
              <a:rPr lang="pt-BR" sz="28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Professor Kaique Almeida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"/>
          <p:cNvSpPr/>
          <p:nvPr/>
        </p:nvSpPr>
        <p:spPr>
          <a:xfrm>
            <a:off x="-2160" y="0"/>
            <a:ext cx="8229240" cy="35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400"/>
              <a:buFont typeface="Verdana"/>
              <a:buNone/>
            </a:pPr>
            <a:r>
              <a:rPr lang="pt-BR" sz="24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Agenda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"/>
          <p:cNvSpPr/>
          <p:nvPr/>
        </p:nvSpPr>
        <p:spPr>
          <a:xfrm>
            <a:off x="130290" y="678934"/>
            <a:ext cx="8229300" cy="19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✔"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KMEANS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3" indent="-34308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✔"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DBSCAN</a:t>
            </a: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3080" marR="0" lvl="3" indent="-34308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Verdana"/>
              <a:buChar char="✔"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PCA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3" indent="-34308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SzPts val="2400"/>
              <a:buFont typeface="Verdana"/>
              <a:buChar char="✔"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t-SNE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6" indent="-19068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6eb4f487f_0_228"/>
          <p:cNvSpPr/>
          <p:nvPr/>
        </p:nvSpPr>
        <p:spPr>
          <a:xfrm>
            <a:off x="1162774" y="669150"/>
            <a:ext cx="6228300" cy="14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3200"/>
              <a:buFont typeface="Verdana"/>
              <a:buNone/>
            </a:pPr>
            <a:r>
              <a:rPr lang="pt-BR" sz="3200" b="1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K Means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6eb4f487f_0_259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K Means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96eb4f487f_0_259"/>
          <p:cNvSpPr/>
          <p:nvPr/>
        </p:nvSpPr>
        <p:spPr>
          <a:xfrm>
            <a:off x="383450" y="1444600"/>
            <a:ext cx="8229300" cy="20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Verdana"/>
              <a:buChar char="•"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Aprendizado não supervisionado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erdana"/>
              <a:buChar char="•"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Agrupamento ou Clusterização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erdana"/>
              <a:buChar char="•"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A ideia não é prever ou classificar, mas descrever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1906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8b32cb07e_0_6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K Means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g3d8b32cb07e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5813" y="1032951"/>
            <a:ext cx="6026575" cy="275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a901bcda4_0_2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K Means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g39a901bcda4_0_2" title="kmeans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3200" y="1163750"/>
            <a:ext cx="6149924" cy="4612451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g39a901bcda4_0_2"/>
          <p:cNvSpPr txBox="1"/>
          <p:nvPr/>
        </p:nvSpPr>
        <p:spPr>
          <a:xfrm>
            <a:off x="774125" y="5845700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Fonte: </a:t>
            </a:r>
            <a:r>
              <a:rPr lang="pt-BR" sz="900" u="sng">
                <a:solidFill>
                  <a:schemeClr val="hlink"/>
                </a:solidFill>
                <a:hlinkClick r:id="rId4"/>
              </a:rPr>
              <a:t>Clusterização com K-means em Python utilizando Elbow Method - Data Universe</a:t>
            </a:r>
            <a:r>
              <a:rPr lang="pt-BR" sz="900">
                <a:solidFill>
                  <a:schemeClr val="dk1"/>
                </a:solidFill>
              </a:rPr>
              <a:t> </a:t>
            </a:r>
            <a:endParaRPr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d8b32cb07e_0_13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K Means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d8b32cb07e_0_13"/>
          <p:cNvSpPr/>
          <p:nvPr/>
        </p:nvSpPr>
        <p:spPr>
          <a:xfrm>
            <a:off x="347925" y="1065575"/>
            <a:ext cx="8229300" cy="6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erdana"/>
              <a:buChar char="•"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Função objetivo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1906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09" name="Google Shape;209;g3d8b32cb07e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9100" y="2248763"/>
            <a:ext cx="5848350" cy="89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g3d8b32cb07e_0_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5849" y="3829500"/>
            <a:ext cx="3724300" cy="135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d8b32cb07e_0_22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K Means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3d8b32cb07e_0_22"/>
          <p:cNvSpPr/>
          <p:nvPr/>
        </p:nvSpPr>
        <p:spPr>
          <a:xfrm>
            <a:off x="336075" y="662850"/>
            <a:ext cx="8229300" cy="6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Regra do cotovelo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3080" lvl="0" indent="-317680" algn="l" rtl="0">
              <a:spcBef>
                <a:spcPts val="0"/>
              </a:spcBef>
              <a:spcAft>
                <a:spcPts val="0"/>
              </a:spcAft>
              <a:buSzPts val="2000"/>
              <a:buFont typeface="Verdana"/>
              <a:buChar char="•"/>
            </a:pPr>
            <a:r>
              <a:rPr lang="pt-BR" sz="2000">
                <a:latin typeface="Verdana"/>
                <a:ea typeface="Verdana"/>
                <a:cs typeface="Verdana"/>
                <a:sym typeface="Verdana"/>
              </a:rPr>
              <a:t>Rode o modelo para vários valores de K</a:t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marL="343080" lvl="0" indent="-317680" algn="l" rtl="0">
              <a:spcBef>
                <a:spcPts val="0"/>
              </a:spcBef>
              <a:spcAft>
                <a:spcPts val="0"/>
              </a:spcAft>
              <a:buSzPts val="2000"/>
              <a:buFont typeface="Verdana"/>
              <a:buChar char="•"/>
            </a:pPr>
            <a:r>
              <a:rPr lang="pt-BR" sz="2000">
                <a:latin typeface="Verdana"/>
                <a:ea typeface="Verdana"/>
                <a:cs typeface="Verdana"/>
                <a:sym typeface="Verdana"/>
              </a:rPr>
              <a:t>Verifique o ponto onde o erro para de diminuir </a:t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marL="343080" lvl="0" indent="-317680" algn="l" rtl="0">
              <a:spcBef>
                <a:spcPts val="0"/>
              </a:spcBef>
              <a:spcAft>
                <a:spcPts val="0"/>
              </a:spcAft>
              <a:buSzPts val="2000"/>
              <a:buFont typeface="Verdana"/>
              <a:buChar char="•"/>
            </a:pPr>
            <a:r>
              <a:rPr lang="pt-BR" sz="2000">
                <a:latin typeface="Verdana"/>
                <a:ea typeface="Verdana"/>
                <a:cs typeface="Verdana"/>
                <a:sym typeface="Verdana"/>
              </a:rPr>
              <a:t>Esse é o valor de k</a:t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343080" lvl="0" indent="-19068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0" algn="l" rtl="0"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1906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18" name="Google Shape;218;g3d8b32cb07e_0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1338" y="2604075"/>
            <a:ext cx="54387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g3d8b32cb07e_0_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1325" y="4238625"/>
            <a:ext cx="333375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d8b32cb07e_0_30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K Means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d8b32cb07e_0_30"/>
          <p:cNvSpPr/>
          <p:nvPr/>
        </p:nvSpPr>
        <p:spPr>
          <a:xfrm>
            <a:off x="347925" y="1065575"/>
            <a:ext cx="8229300" cy="4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400"/>
              <a:buFont typeface="Verdana"/>
              <a:buChar char="•"/>
            </a:pPr>
            <a:r>
              <a:rPr lang="pt-BR" sz="24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Simples</a:t>
            </a:r>
            <a:endParaRPr sz="24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400"/>
              <a:buFont typeface="Verdana"/>
              <a:buChar char="•"/>
            </a:pPr>
            <a:r>
              <a:rPr lang="pt-BR" sz="24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Eficiente</a:t>
            </a:r>
            <a:endParaRPr sz="24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400"/>
              <a:buFont typeface="Verdana"/>
              <a:buChar char="•"/>
            </a:pPr>
            <a:r>
              <a:rPr lang="pt-BR" sz="24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Explicabilidade</a:t>
            </a:r>
            <a:endParaRPr sz="24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Verdana"/>
              <a:buChar char="•"/>
            </a:pPr>
            <a:r>
              <a:rPr lang="pt-BR" sz="2400">
                <a:solidFill>
                  <a:srgbClr val="C00000"/>
                </a:solidFill>
                <a:latin typeface="Verdana"/>
                <a:ea typeface="Verdana"/>
                <a:cs typeface="Verdana"/>
                <a:sym typeface="Verdana"/>
              </a:rPr>
              <a:t>Escolha do K</a:t>
            </a:r>
            <a:endParaRPr sz="2400">
              <a:solidFill>
                <a:srgbClr val="C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Verdana"/>
              <a:buChar char="•"/>
            </a:pPr>
            <a:r>
              <a:rPr lang="pt-BR" sz="2400">
                <a:solidFill>
                  <a:srgbClr val="C00000"/>
                </a:solidFill>
                <a:latin typeface="Verdana"/>
                <a:ea typeface="Verdana"/>
                <a:cs typeface="Verdana"/>
                <a:sym typeface="Verdana"/>
              </a:rPr>
              <a:t>Sensível a inicialização</a:t>
            </a:r>
            <a:endParaRPr sz="2400">
              <a:solidFill>
                <a:srgbClr val="C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Verdana"/>
              <a:buChar char="•"/>
            </a:pPr>
            <a:r>
              <a:rPr lang="pt-BR" sz="2400">
                <a:solidFill>
                  <a:srgbClr val="C00000"/>
                </a:solidFill>
                <a:latin typeface="Verdana"/>
                <a:ea typeface="Verdana"/>
                <a:cs typeface="Verdana"/>
                <a:sym typeface="Verdana"/>
              </a:rPr>
              <a:t>Assume formato esférico</a:t>
            </a:r>
            <a:endParaRPr sz="2400">
              <a:solidFill>
                <a:srgbClr val="C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Verdana"/>
              <a:buChar char="•"/>
            </a:pPr>
            <a:r>
              <a:rPr lang="pt-BR" sz="2400">
                <a:solidFill>
                  <a:srgbClr val="C00000"/>
                </a:solidFill>
                <a:latin typeface="Verdana"/>
                <a:ea typeface="Verdana"/>
                <a:cs typeface="Verdana"/>
                <a:sym typeface="Verdana"/>
              </a:rPr>
              <a:t>Sensível a outliers (distância ao quadrado)</a:t>
            </a:r>
            <a:endParaRPr sz="2400">
              <a:solidFill>
                <a:srgbClr val="C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Verdana"/>
              <a:buChar char="•"/>
            </a:pPr>
            <a:r>
              <a:rPr lang="pt-BR" sz="2400">
                <a:solidFill>
                  <a:srgbClr val="C00000"/>
                </a:solidFill>
                <a:latin typeface="Verdana"/>
                <a:ea typeface="Verdana"/>
                <a:cs typeface="Verdana"/>
                <a:sym typeface="Verdana"/>
              </a:rPr>
              <a:t>Densidades diferentes </a:t>
            </a:r>
            <a:endParaRPr sz="2400">
              <a:solidFill>
                <a:srgbClr val="C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1906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979f0e7787_0_0"/>
          <p:cNvSpPr/>
          <p:nvPr/>
        </p:nvSpPr>
        <p:spPr>
          <a:xfrm>
            <a:off x="1162774" y="669150"/>
            <a:ext cx="6228300" cy="14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3200"/>
              <a:buFont typeface="Verdana"/>
              <a:buNone/>
            </a:pPr>
            <a:r>
              <a:rPr lang="pt-BR" sz="3200" b="1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DBSCAN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9a806c179b_0_10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DBSCAN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9a806c179b_0_10"/>
          <p:cNvSpPr/>
          <p:nvPr/>
        </p:nvSpPr>
        <p:spPr>
          <a:xfrm>
            <a:off x="383450" y="1444600"/>
            <a:ext cx="8229300" cy="35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erdana"/>
              <a:buChar char="•"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Density-Based Spatial Clustering of Applications with Noise 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erdana"/>
              <a:buChar char="•"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Clusters crescem com base na densidade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erdana"/>
              <a:buChar char="•"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Não assume um formato nem um número de clusters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1906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9a806c179b_0_112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DBSCAN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39a806c179b_0_112"/>
          <p:cNvSpPr/>
          <p:nvPr/>
        </p:nvSpPr>
        <p:spPr>
          <a:xfrm>
            <a:off x="383450" y="1444600"/>
            <a:ext cx="8229300" cy="35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erdana"/>
              <a:buChar char="•"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Utiliza o parâmetro epsilon (ε) para determinar o raio da vizinhança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erdana"/>
              <a:buChar char="•"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Utiliza o parâmetro min_samples para determinar o número mínimo de amostras que caracterizam uma região densa.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1906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6" name="Google Shape;246;g39a806c179b_0_112"/>
          <p:cNvSpPr txBox="1"/>
          <p:nvPr/>
        </p:nvSpPr>
        <p:spPr>
          <a:xfrm>
            <a:off x="605400" y="833675"/>
            <a:ext cx="5716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1"/>
              <a:t>Parâmetros</a:t>
            </a:r>
            <a:endParaRPr sz="2600"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9a806c179b_0_118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DBSCAN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39a806c179b_0_118"/>
          <p:cNvSpPr/>
          <p:nvPr/>
        </p:nvSpPr>
        <p:spPr>
          <a:xfrm>
            <a:off x="383450" y="1444600"/>
            <a:ext cx="8229300" cy="35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erdana"/>
              <a:buChar char="•"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Core point: ponto do núcleo, contém min_samples dentro do raio </a:t>
            </a:r>
            <a:r>
              <a:rPr lang="pt-BR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ε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erdana"/>
              <a:buChar char="•"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Border point: ponto de borda, não tem densidade sozinho, mas está dentro de um core point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erdana"/>
              <a:buChar char="•"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Noise: ruído, não pertence a nenhum cluster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1906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4" name="Google Shape;254;g39a806c179b_0_118"/>
          <p:cNvSpPr txBox="1"/>
          <p:nvPr/>
        </p:nvSpPr>
        <p:spPr>
          <a:xfrm>
            <a:off x="605400" y="833675"/>
            <a:ext cx="5716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1"/>
              <a:t>Tipos de pontos</a:t>
            </a:r>
            <a:endParaRPr sz="2600"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9a806c179b_0_126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DBSCAN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1" name="Google Shape;261;g39a806c179b_0_1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4050" y="1653122"/>
            <a:ext cx="7125750" cy="28784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9a806c179b_0_134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DBSCAN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39a806c179b_0_134"/>
          <p:cNvSpPr txBox="1"/>
          <p:nvPr/>
        </p:nvSpPr>
        <p:spPr>
          <a:xfrm>
            <a:off x="1607825" y="2520875"/>
            <a:ext cx="4416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 dirty="0">
                <a:solidFill>
                  <a:schemeClr val="hlink"/>
                </a:solidFill>
                <a:hlinkClick r:id="rId3"/>
              </a:rPr>
              <a:t>https://www.youtube.com/watch?v=-7j4n3FDGK4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dc557d8a10_0_6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DBSCAN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5" name="Google Shape;275;g3dc557d8a10_0_6" title="dbscan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04850"/>
            <a:ext cx="4406574" cy="3484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g3dc557d8a10_0_6" title="kmeans_smile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5900" y="1375263"/>
            <a:ext cx="4481401" cy="354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9a806c179b_0_0"/>
          <p:cNvSpPr/>
          <p:nvPr/>
        </p:nvSpPr>
        <p:spPr>
          <a:xfrm>
            <a:off x="1162774" y="669150"/>
            <a:ext cx="6228300" cy="14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3200"/>
              <a:buFont typeface="Verdana"/>
              <a:buNone/>
            </a:pPr>
            <a:r>
              <a:rPr lang="pt-BR" sz="3200" b="1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PCA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9a806c179b_0_104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PCA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39a806c179b_0_104"/>
          <p:cNvSpPr/>
          <p:nvPr/>
        </p:nvSpPr>
        <p:spPr>
          <a:xfrm>
            <a:off x="75775" y="1553750"/>
            <a:ext cx="8760600" cy="20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erdana"/>
              <a:buChar char="•"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Técnica estatística para redução de dimensionalidade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erdana"/>
              <a:buChar char="•"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Usada em feature engineering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1906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9a806c179b_0_4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PCA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5" name="Google Shape;295;g39a806c179b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1797" y="3076785"/>
            <a:ext cx="5956772" cy="325179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6" name="Google Shape;296;g39a806c179b_0_4"/>
          <p:cNvGraphicFramePr/>
          <p:nvPr/>
        </p:nvGraphicFramePr>
        <p:xfrm>
          <a:off x="4042900" y="1343350"/>
          <a:ext cx="4037225" cy="1584840"/>
        </p:xfrm>
        <a:graphic>
          <a:graphicData uri="http://schemas.openxmlformats.org/drawingml/2006/table">
            <a:tbl>
              <a:tblPr>
                <a:noFill/>
                <a:tableStyleId>{D5515C19-4ACD-4DB5-B0D4-AFF5DD21CC70}</a:tableStyleId>
              </a:tblPr>
              <a:tblGrid>
                <a:gridCol w="1088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5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Altura (cm)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Peso (kg)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Márcia</a:t>
                      </a:r>
                      <a:endParaRPr/>
                    </a:p>
                  </a:txBody>
                  <a:tcPr marL="91425" marR="91425" marT="91425" marB="91425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150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71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Cláudio</a:t>
                      </a:r>
                      <a:endParaRPr/>
                    </a:p>
                  </a:txBody>
                  <a:tcPr marL="91425" marR="91425" marT="91425" marB="91425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170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73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Fabiana</a:t>
                      </a:r>
                      <a:endParaRPr/>
                    </a:p>
                  </a:txBody>
                  <a:tcPr marL="91425" marR="91425" marT="91425" marB="91425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140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70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7" name="Google Shape;297;g39a806c179b_0_4"/>
          <p:cNvSpPr/>
          <p:nvPr/>
        </p:nvSpPr>
        <p:spPr>
          <a:xfrm>
            <a:off x="274275" y="1603373"/>
            <a:ext cx="3659400" cy="9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176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Verdana"/>
              <a:buChar char="•"/>
            </a:pPr>
            <a:r>
              <a:rPr lang="pt-BR" sz="2000">
                <a:latin typeface="Verdana"/>
                <a:ea typeface="Verdana"/>
                <a:cs typeface="Verdana"/>
                <a:sym typeface="Verdana"/>
              </a:rPr>
              <a:t>Poderia remover a coluna peso?</a:t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1906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9a806c179b_0_21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PCA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4" name="Google Shape;304;g39a806c179b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567" y="1542030"/>
            <a:ext cx="2838450" cy="268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g39a806c179b_0_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83968" y="1836553"/>
            <a:ext cx="2857500" cy="229552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g39a806c179b_0_21"/>
          <p:cNvSpPr/>
          <p:nvPr/>
        </p:nvSpPr>
        <p:spPr>
          <a:xfrm>
            <a:off x="4049303" y="2778938"/>
            <a:ext cx="1329900" cy="516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39a806c179b_0_21"/>
          <p:cNvSpPr txBox="1"/>
          <p:nvPr/>
        </p:nvSpPr>
        <p:spPr>
          <a:xfrm>
            <a:off x="4090700" y="2411713"/>
            <a:ext cx="1128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Projeção</a:t>
            </a:r>
            <a:endParaRPr sz="1800"/>
          </a:p>
        </p:txBody>
      </p:sp>
      <p:sp>
        <p:nvSpPr>
          <p:cNvPr id="308" name="Google Shape;308;g39a806c179b_0_21"/>
          <p:cNvSpPr txBox="1"/>
          <p:nvPr/>
        </p:nvSpPr>
        <p:spPr>
          <a:xfrm>
            <a:off x="901650" y="4181695"/>
            <a:ext cx="261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x1 e x2 correlacionadas</a:t>
            </a:r>
            <a:endParaRPr sz="1800"/>
          </a:p>
        </p:txBody>
      </p:sp>
      <p:sp>
        <p:nvSpPr>
          <p:cNvPr id="309" name="Google Shape;309;g39a806c179b_0_21"/>
          <p:cNvSpPr txBox="1"/>
          <p:nvPr/>
        </p:nvSpPr>
        <p:spPr>
          <a:xfrm>
            <a:off x="5887405" y="4181695"/>
            <a:ext cx="2610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x1’ e x2’ não correlacionadas</a:t>
            </a:r>
            <a:endParaRPr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9a806c179b_0_35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PCA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39a806c179b_0_35"/>
          <p:cNvSpPr/>
          <p:nvPr/>
        </p:nvSpPr>
        <p:spPr>
          <a:xfrm>
            <a:off x="4049303" y="1975033"/>
            <a:ext cx="1329900" cy="516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g39a806c179b_0_35"/>
          <p:cNvSpPr txBox="1"/>
          <p:nvPr/>
        </p:nvSpPr>
        <p:spPr>
          <a:xfrm>
            <a:off x="3832650" y="1568120"/>
            <a:ext cx="2181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Descartando x2’</a:t>
            </a:r>
            <a:endParaRPr sz="1800"/>
          </a:p>
        </p:txBody>
      </p:sp>
      <p:pic>
        <p:nvPicPr>
          <p:cNvPr id="318" name="Google Shape;318;g39a806c179b_0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0463" y="1114155"/>
            <a:ext cx="2771775" cy="22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g39a806c179b_0_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7400" y="1204643"/>
            <a:ext cx="2400300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g39a806c179b_0_35"/>
          <p:cNvSpPr/>
          <p:nvPr/>
        </p:nvSpPr>
        <p:spPr>
          <a:xfrm>
            <a:off x="4171928" y="4459733"/>
            <a:ext cx="1329900" cy="516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g39a806c179b_0_35"/>
          <p:cNvSpPr txBox="1"/>
          <p:nvPr/>
        </p:nvSpPr>
        <p:spPr>
          <a:xfrm>
            <a:off x="3955275" y="4052820"/>
            <a:ext cx="2181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Descartando x1’</a:t>
            </a:r>
            <a:endParaRPr sz="1800"/>
          </a:p>
        </p:txBody>
      </p:sp>
      <p:pic>
        <p:nvPicPr>
          <p:cNvPr id="322" name="Google Shape;322;g39a806c179b_0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3088" y="3598855"/>
            <a:ext cx="2771775" cy="22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g39a806c179b_0_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21213" y="3434293"/>
            <a:ext cx="235267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9a806c179b_0_53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PCA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0" name="Google Shape;330;g39a806c179b_0_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3600" y="745698"/>
            <a:ext cx="3996150" cy="536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9a806c179b_0_68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PCA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7" name="Google Shape;337;g39a806c179b_0_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76010"/>
            <a:ext cx="8839203" cy="3837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9a806c179b_0_93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PCA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g39a806c179b_0_93"/>
          <p:cNvSpPr/>
          <p:nvPr/>
        </p:nvSpPr>
        <p:spPr>
          <a:xfrm>
            <a:off x="254425" y="839175"/>
            <a:ext cx="8161800" cy="9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176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Verdana"/>
              <a:buChar char="•"/>
            </a:pPr>
            <a:r>
              <a:rPr lang="pt-BR" sz="2000">
                <a:latin typeface="Verdana"/>
                <a:ea typeface="Verdana"/>
                <a:cs typeface="Verdana"/>
                <a:sym typeface="Verdana"/>
              </a:rPr>
              <a:t>Malware: software malicioso criado para invadir, explorar ou prejudicar um sistema</a:t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1906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45" name="Google Shape;345;g39a806c179b_0_93"/>
          <p:cNvSpPr/>
          <p:nvPr/>
        </p:nvSpPr>
        <p:spPr>
          <a:xfrm>
            <a:off x="386975" y="4236950"/>
            <a:ext cx="4555500" cy="9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176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Verdana"/>
              <a:buChar char="•"/>
            </a:pPr>
            <a:r>
              <a:rPr lang="pt-BR" sz="2000">
                <a:latin typeface="Verdana"/>
                <a:ea typeface="Verdana"/>
                <a:cs typeface="Verdana"/>
                <a:sym typeface="Verdana"/>
              </a:rPr>
              <a:t>Ransomware: sequestra arquivos. </a:t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1906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46" name="Google Shape;346;g39a806c179b_0_93"/>
          <p:cNvSpPr/>
          <p:nvPr/>
        </p:nvSpPr>
        <p:spPr>
          <a:xfrm>
            <a:off x="4330625" y="4236950"/>
            <a:ext cx="4555500" cy="9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176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Verdana"/>
              <a:buChar char="•"/>
            </a:pPr>
            <a:r>
              <a:rPr lang="pt-BR" sz="2000">
                <a:latin typeface="Verdana"/>
                <a:ea typeface="Verdana"/>
                <a:cs typeface="Verdana"/>
                <a:sym typeface="Verdana"/>
              </a:rPr>
              <a:t>Cryptominer: sequestra CPU </a:t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1906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47" name="Google Shape;347;g39a806c179b_0_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4500" y="3083550"/>
            <a:ext cx="2670001" cy="1457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g39a806c179b_0_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3375" y="3023937"/>
            <a:ext cx="2888374" cy="157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9a806c179b_0_75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PCA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5" name="Google Shape;355;g39a806c179b_0_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8350" y="1196576"/>
            <a:ext cx="5345901" cy="2767975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g39a806c179b_0_75"/>
          <p:cNvSpPr/>
          <p:nvPr/>
        </p:nvSpPr>
        <p:spPr>
          <a:xfrm>
            <a:off x="274275" y="4134200"/>
            <a:ext cx="7298400" cy="6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2986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Verdana"/>
              <a:buChar char="•"/>
            </a:pPr>
            <a:r>
              <a:rPr lang="pt-BR" sz="1700">
                <a:latin typeface="Verdana"/>
                <a:ea typeface="Verdana"/>
                <a:cs typeface="Verdana"/>
                <a:sym typeface="Verdana"/>
              </a:rPr>
              <a:t>syscall: interação entre programa e kernel</a:t>
            </a:r>
            <a:endParaRPr sz="1700"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700">
                <a:latin typeface="Verdana"/>
                <a:ea typeface="Verdana"/>
                <a:cs typeface="Verdana"/>
                <a:sym typeface="Verdana"/>
              </a:rPr>
              <a:t>       </a:t>
            </a:r>
            <a:endParaRPr sz="1700"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700">
                <a:latin typeface="Verdana"/>
                <a:ea typeface="Verdana"/>
                <a:cs typeface="Verdana"/>
                <a:sym typeface="Verdana"/>
              </a:rPr>
              <a:t>                                  open → read → write → close</a:t>
            </a:r>
            <a:endParaRPr sz="1700"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700"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700">
                <a:latin typeface="Verdana"/>
                <a:ea typeface="Verdana"/>
                <a:cs typeface="Verdana"/>
                <a:sym typeface="Verdana"/>
              </a:rPr>
              <a:t>abordagem por bi-grama gera 16 dimensões nesse caso</a:t>
            </a:r>
            <a:endParaRPr sz="1700"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9a806c179b_0_82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PCA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3" name="Google Shape;363;g39a806c179b_0_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325" y="474550"/>
            <a:ext cx="8465601" cy="297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g39a806c179b_0_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87062" y="3483854"/>
            <a:ext cx="5409576" cy="293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9a806c179b_0_143"/>
          <p:cNvSpPr/>
          <p:nvPr/>
        </p:nvSpPr>
        <p:spPr>
          <a:xfrm>
            <a:off x="1162774" y="669150"/>
            <a:ext cx="6228300" cy="14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3200"/>
              <a:buFont typeface="Verdana"/>
              <a:buNone/>
            </a:pPr>
            <a:r>
              <a:rPr lang="pt-BR" sz="3200" b="1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T-SNE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dc557d8a10_0_14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t-SNE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g3dc557d8a10_0_14"/>
          <p:cNvSpPr/>
          <p:nvPr/>
        </p:nvSpPr>
        <p:spPr>
          <a:xfrm>
            <a:off x="75775" y="1553750"/>
            <a:ext cx="8760600" cy="20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erdana"/>
              <a:buChar char="•"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Técnica estatística para redução de dimensionalidade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erdana"/>
              <a:buChar char="•"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Tenta manter a proximidade que os dados têm nas altas dimensões para as baixas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erdana"/>
              <a:buChar char="•"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Separa melhor os cluster que o PCA.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erdana"/>
              <a:buChar char="•"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Gera melhores visualizações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1906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dc557d8a10_0_28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t-SNE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g3dc557d8a10_0_28"/>
          <p:cNvSpPr/>
          <p:nvPr/>
        </p:nvSpPr>
        <p:spPr>
          <a:xfrm>
            <a:off x="125400" y="2476750"/>
            <a:ext cx="8760600" cy="20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erdana"/>
              <a:buChar char="•"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n_components: número de componentes (2 para visualização 2D)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erdana"/>
              <a:buChar char="•"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perplexity: número de vizinhos considerados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1906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dc557d8a10_0_21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t-SNE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0" name="Google Shape;390;g3dc557d8a10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475" y="557222"/>
            <a:ext cx="8610600" cy="5743575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g3dc557d8a10_0_21"/>
          <p:cNvSpPr/>
          <p:nvPr/>
        </p:nvSpPr>
        <p:spPr>
          <a:xfrm>
            <a:off x="7731375" y="5607100"/>
            <a:ext cx="972600" cy="516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dc557d8a10_0_36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t-SNE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g3dc557d8a10_0_36"/>
          <p:cNvSpPr/>
          <p:nvPr/>
        </p:nvSpPr>
        <p:spPr>
          <a:xfrm>
            <a:off x="7731375" y="5607100"/>
            <a:ext cx="972600" cy="516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9" name="Google Shape;399;g3dc557d8a10_0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055" y="1150760"/>
            <a:ext cx="8163920" cy="471464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g3dc557d8a10_0_36"/>
          <p:cNvSpPr/>
          <p:nvPr/>
        </p:nvSpPr>
        <p:spPr>
          <a:xfrm>
            <a:off x="7731375" y="5225900"/>
            <a:ext cx="972600" cy="516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74"/>
          <p:cNvSpPr/>
          <p:nvPr/>
        </p:nvSpPr>
        <p:spPr>
          <a:xfrm>
            <a:off x="2060710" y="3130035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FIM 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421</Words>
  <Application>Microsoft Office PowerPoint</Application>
  <PresentationFormat>Apresentação na tela (4:3)</PresentationFormat>
  <Paragraphs>180</Paragraphs>
  <Slides>33</Slides>
  <Notes>33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33</vt:i4>
      </vt:variant>
    </vt:vector>
  </HeadingPairs>
  <TitlesOfParts>
    <vt:vector size="40" baseType="lpstr">
      <vt:lpstr>Arial</vt:lpstr>
      <vt:lpstr>Calibri</vt:lpstr>
      <vt:lpstr>Noto Sans Symbols</vt:lpstr>
      <vt:lpstr>Times New Roman</vt:lpstr>
      <vt:lpstr>Verdana</vt:lpstr>
      <vt:lpstr>Office Theme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Victor Akio Zukeran</dc:creator>
  <cp:lastModifiedBy>Kaique Almeida Justino da Silva</cp:lastModifiedBy>
  <cp:revision>1</cp:revision>
  <dcterms:created xsi:type="dcterms:W3CDTF">2013-10-10T17:31:52Z</dcterms:created>
  <dcterms:modified xsi:type="dcterms:W3CDTF">2026-05-06T00:48:20Z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0x01010073806014F133DA42B05483D3695C6CCB</vt:lpwstr>
  </property>
  <property fmtid="{D5CDD505-2E9C-101B-9397-08002B2CF9AE}" pid="3" name="HiddenSlides">
    <vt:i4>1</vt:i4>
  </property>
  <property fmtid="{D5CDD505-2E9C-101B-9397-08002B2CF9AE}" pid="4" name="Notes">
    <vt:i4>1</vt:i4>
  </property>
  <property fmtid="{D5CDD505-2E9C-101B-9397-08002B2CF9AE}" pid="5" name="PresentationFormat">
    <vt:lpwstr>Apresentação na tela (4:3)</vt:lpwstr>
  </property>
  <property fmtid="{D5CDD505-2E9C-101B-9397-08002B2CF9AE}" pid="6" name="Slides">
    <vt:i4>27</vt:i4>
  </property>
</Properties>
</file>