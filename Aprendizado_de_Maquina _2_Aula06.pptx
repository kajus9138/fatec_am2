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HSN6CE+e9b2gRlwCjyoMkWiG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customschemas.google.com/relationships/presentationmetadata" Target="meta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meida Justino da Silva" userId="80cecd39-0bb3-4568-aadc-2c47a6d51773" providerId="ADAL" clId="{104D16F3-0830-409B-B338-B1F24D90F70E}"/>
    <pc:docChg chg="custSel modSld">
      <pc:chgData name="Kaique Almeida Justino da Silva" userId="80cecd39-0bb3-4568-aadc-2c47a6d51773" providerId="ADAL" clId="{104D16F3-0830-409B-B338-B1F24D90F70E}" dt="2026-06-09T17:54:52.788" v="5" actId="478"/>
      <pc:docMkLst>
        <pc:docMk/>
      </pc:docMkLst>
      <pc:sldChg chg="modSp mod">
        <pc:chgData name="Kaique Almeida Justino da Silva" userId="80cecd39-0bb3-4568-aadc-2c47a6d51773" providerId="ADAL" clId="{104D16F3-0830-409B-B338-B1F24D90F70E}" dt="2026-06-09T17:54:41.210" v="3" actId="14100"/>
        <pc:sldMkLst>
          <pc:docMk/>
          <pc:sldMk cId="0" sldId="261"/>
        </pc:sldMkLst>
        <pc:cxnChg chg="mod">
          <ac:chgData name="Kaique Almeida Justino da Silva" userId="80cecd39-0bb3-4568-aadc-2c47a6d51773" providerId="ADAL" clId="{104D16F3-0830-409B-B338-B1F24D90F70E}" dt="2026-06-09T17:54:41.210" v="3" actId="14100"/>
          <ac:cxnSpMkLst>
            <pc:docMk/>
            <pc:sldMk cId="0" sldId="261"/>
            <ac:cxnSpMk id="297" creationId="{00000000-0000-0000-0000-000000000000}"/>
          </ac:cxnSpMkLst>
        </pc:cxnChg>
      </pc:sldChg>
      <pc:sldChg chg="delSp modSp mod">
        <pc:chgData name="Kaique Almeida Justino da Silva" userId="80cecd39-0bb3-4568-aadc-2c47a6d51773" providerId="ADAL" clId="{104D16F3-0830-409B-B338-B1F24D90F70E}" dt="2026-06-09T17:54:52.788" v="5" actId="478"/>
        <pc:sldMkLst>
          <pc:docMk/>
          <pc:sldMk cId="0" sldId="262"/>
        </pc:sldMkLst>
        <pc:cxnChg chg="del mod">
          <ac:chgData name="Kaique Almeida Justino da Silva" userId="80cecd39-0bb3-4568-aadc-2c47a6d51773" providerId="ADAL" clId="{104D16F3-0830-409B-B338-B1F24D90F70E}" dt="2026-06-09T17:54:52.788" v="5" actId="478"/>
          <ac:cxnSpMkLst>
            <pc:docMk/>
            <pc:sldMk cId="0" sldId="262"/>
            <ac:cxnSpMk id="33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4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aba13ad6_0_4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g3a8aba13ad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8aba13ad6_0_26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3a8aba13ad6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8aba13ad6_0_29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g3a8aba13ad6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6eb4f487f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g396eb4f487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8aba13ad6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g3a8aba13a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3389aa854_0_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g3e3389aa85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8f0ed114_0_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g3e48f0ed11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48f0ed114_0_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" name="Google Shape;472;g3e48f0ed11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48f0ed114_0_2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g3e48f0ed11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48f0ed114_0_3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g3e48f0ed11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48f0ed114_0_3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g3e48f0ed11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48f0ed114_0_5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g3e48f0ed11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48f0ed114_0_6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g3e48f0ed11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48f0ed114_0_7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g3e48f0ed11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e48f0ed114_0_8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g3e48f0ed11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48f0ed114_0_9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g3e48f0ed11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48f0ed114_0_9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g3e48f0ed11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48f0ed114_2_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4" name="Google Shape;554;g3e48f0ed114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48f0ed114_2_1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4" name="Google Shape;564;g3e48f0ed114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48f0ed114_2_3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g3e48f0ed114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e48f0ed114_2_4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g3e48f0ed114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48f0ed114_2_5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g3e48f0ed114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4" name="Google Shape;604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5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5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5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85" name="Google Shape;185;p5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2" name="Google Shape;192;p5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7" name="Google Shape;197;p5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9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2" name="Google Shape;202;p5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6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6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6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6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0" name="Google Shape;210;p6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61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6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6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8" name="Google Shape;218;p6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6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6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6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6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6" name="Google Shape;226;p6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6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63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6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6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33" name="Google Shape;233;p6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6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64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64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64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6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42" name="Google Shape;242;p6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6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5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65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65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65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65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6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6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53" name="Google Shape;253;p6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/>
          <p:nvPr/>
        </p:nvSpPr>
        <p:spPr>
          <a:xfrm>
            <a:off x="4212000" y="8640"/>
            <a:ext cx="4931640" cy="45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31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3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/>
          <p:nvPr/>
        </p:nvSpPr>
        <p:spPr>
          <a:xfrm>
            <a:off x="-2160" y="0"/>
            <a:ext cx="8229240" cy="35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"/>
          <p:cNvSpPr/>
          <p:nvPr/>
        </p:nvSpPr>
        <p:spPr>
          <a:xfrm>
            <a:off x="0" y="548640"/>
            <a:ext cx="8229240" cy="50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Apresentação do professor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Apresentação dos alunos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Objetivo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Atividade 1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Introdução ao Aprendizado de Máquina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Avaliação de Modelos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KNN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Regressão Logística (Introdução)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Ementa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7" name="Google Shape;27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5480" y="61459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-36925" y="598448"/>
            <a:ext cx="9143700" cy="6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285840" marR="0" lvl="0" indent="-2794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Apresentação / Introdução a disciplina / Avaliação de Modelos / Regressão Logística / KNN  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(07/04)</a:t>
            </a:r>
            <a:endParaRPr sz="1700" b="1" i="0" u="none" strike="noStrike" cap="none">
              <a:solidFill>
                <a:srgbClr val="A2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Árvores de Decisão / Floresta de Decisão / XGBoost / Laboratório para Atividade 1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(14/04)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Atividade 1 - Apresentação de Trabalhos / Naive Bayes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(28/04)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 / DBSCAN / PCA / T-SNE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(05/05)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 / Correção da P1 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(12/05)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Verdana"/>
              <a:buChar char="✔"/>
            </a:pPr>
            <a:r>
              <a:rPr lang="pt-BR" sz="17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Resolução da P1  / Lista de reforço</a:t>
            </a:r>
            <a:r>
              <a:rPr lang="pt-BR" sz="17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(19/05)</a:t>
            </a:r>
            <a:endParaRPr sz="17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SVMs / </a:t>
            </a:r>
            <a:r>
              <a:rPr lang="pt-BR" sz="17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Redes Neurais Feed Forward /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Lista 1</a:t>
            </a: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pt-BR" sz="17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26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/05)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CNNs / GANs /  Redes Neurais Recorrentes / Laboratório 2 (Atividade 2)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(02/06)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Redes de Kohonen  / RBF / Adaptive Resonance Theory / Entrega Atividade 2  / Lista 2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(09/06)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P2 / Correção de P2</a:t>
            </a:r>
            <a:r>
              <a:rPr lang="pt-BR" sz="17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(16/06)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Resolução da P2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(23/06)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10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p10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60" y="6327360"/>
            <a:ext cx="1333080" cy="523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10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10"/>
          <p:cNvSpPr/>
          <p:nvPr/>
        </p:nvSpPr>
        <p:spPr>
          <a:xfrm>
            <a:off x="373680" y="620640"/>
            <a:ext cx="8742960" cy="50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 = </a:t>
            </a:r>
            <a:r>
              <a:rPr lang="pt-BR" sz="22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 + P1 + A2+ P2      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	           4</a:t>
            </a:r>
            <a:endParaRPr sz="22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sz="2200" i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A1: Seminário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A2: 0,25*L1 + 0,25*L2 + 0,5*Lab02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MS: Média do semestre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Calibri"/>
              <a:buNone/>
            </a:pPr>
            <a:r>
              <a:rPr lang="pt-BR" sz="22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Aprovado:</a:t>
            </a:r>
            <a:r>
              <a:rPr lang="pt-BR" sz="22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 &gt;= 6,0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None/>
            </a:pPr>
            <a:r>
              <a:rPr lang="pt-BR" sz="2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Reprovado: </a:t>
            </a: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 &lt;   6,0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60" y="6327360"/>
            <a:ext cx="1333080" cy="52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8000" y="3161520"/>
            <a:ext cx="2857320" cy="285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Fronteiras de Decisão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149425" y="547432"/>
            <a:ext cx="88722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Classificação unidimensional linear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6"/>
          <p:cNvCxnSpPr>
            <a:cxnSpLocks/>
          </p:cNvCxnSpPr>
          <p:nvPr/>
        </p:nvCxnSpPr>
        <p:spPr>
          <a:xfrm>
            <a:off x="1938528" y="2606040"/>
            <a:ext cx="4796372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p16"/>
          <p:cNvSpPr/>
          <p:nvPr/>
        </p:nvSpPr>
        <p:spPr>
          <a:xfrm>
            <a:off x="5176704" y="247585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5462629" y="247734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5704029" y="247585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5017539" y="2476922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890789" y="247584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4708679" y="247734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3575436" y="2494726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3416271" y="249579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3289521" y="249471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3107411" y="2496220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3852462" y="249579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013764" y="2487960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2901711" y="250405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2222000" y="17699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Tempo de permanência em um site</a:t>
            </a:r>
            <a:endParaRPr sz="1800" b="1"/>
          </a:p>
        </p:txBody>
      </p:sp>
      <p:sp>
        <p:nvSpPr>
          <p:cNvPr id="312" name="Google Shape;312;p16"/>
          <p:cNvSpPr txBox="1"/>
          <p:nvPr/>
        </p:nvSpPr>
        <p:spPr>
          <a:xfrm>
            <a:off x="2682478" y="2790817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A20000"/>
                </a:solidFill>
              </a:rPr>
              <a:t>Não comprou</a:t>
            </a:r>
            <a:endParaRPr sz="1300">
              <a:solidFill>
                <a:srgbClr val="A20000"/>
              </a:solidFill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4846678" y="2790817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0B050"/>
                </a:solidFill>
              </a:rPr>
              <a:t>Comprou</a:t>
            </a:r>
            <a:endParaRPr sz="13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8aba13ad6_0_4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Fronteiras de Decisão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g3a8aba13ad6_0_48"/>
          <p:cNvCxnSpPr/>
          <p:nvPr/>
        </p:nvCxnSpPr>
        <p:spPr>
          <a:xfrm>
            <a:off x="1361978" y="1702919"/>
            <a:ext cx="5706600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0" name="Google Shape;320;g3a8aba13ad6_0_48"/>
          <p:cNvSpPr/>
          <p:nvPr/>
        </p:nvSpPr>
        <p:spPr>
          <a:xfrm>
            <a:off x="6013480" y="157676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a8aba13ad6_0_48"/>
          <p:cNvSpPr/>
          <p:nvPr/>
        </p:nvSpPr>
        <p:spPr>
          <a:xfrm>
            <a:off x="6299405" y="157825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a8aba13ad6_0_48"/>
          <p:cNvSpPr/>
          <p:nvPr/>
        </p:nvSpPr>
        <p:spPr>
          <a:xfrm>
            <a:off x="6540805" y="157676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a8aba13ad6_0_48"/>
          <p:cNvSpPr/>
          <p:nvPr/>
        </p:nvSpPr>
        <p:spPr>
          <a:xfrm>
            <a:off x="5854315" y="157783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a8aba13ad6_0_48"/>
          <p:cNvSpPr/>
          <p:nvPr/>
        </p:nvSpPr>
        <p:spPr>
          <a:xfrm>
            <a:off x="5727565" y="157675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a8aba13ad6_0_48"/>
          <p:cNvSpPr/>
          <p:nvPr/>
        </p:nvSpPr>
        <p:spPr>
          <a:xfrm>
            <a:off x="5545455" y="157825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a8aba13ad6_0_48"/>
          <p:cNvSpPr/>
          <p:nvPr/>
        </p:nvSpPr>
        <p:spPr>
          <a:xfrm>
            <a:off x="3401662" y="1611187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a8aba13ad6_0_48"/>
          <p:cNvSpPr/>
          <p:nvPr/>
        </p:nvSpPr>
        <p:spPr>
          <a:xfrm>
            <a:off x="3143559" y="1611205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a8aba13ad6_0_48"/>
          <p:cNvSpPr/>
          <p:nvPr/>
        </p:nvSpPr>
        <p:spPr>
          <a:xfrm>
            <a:off x="2810946" y="1611205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a8aba13ad6_0_48"/>
          <p:cNvSpPr/>
          <p:nvPr/>
        </p:nvSpPr>
        <p:spPr>
          <a:xfrm>
            <a:off x="2573312" y="160498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a8aba13ad6_0_48"/>
          <p:cNvSpPr/>
          <p:nvPr/>
        </p:nvSpPr>
        <p:spPr>
          <a:xfrm>
            <a:off x="2342913" y="1588880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a8aba13ad6_0_48"/>
          <p:cNvSpPr/>
          <p:nvPr/>
        </p:nvSpPr>
        <p:spPr>
          <a:xfrm>
            <a:off x="2100927" y="1588872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a8aba13ad6_0_48"/>
          <p:cNvSpPr/>
          <p:nvPr/>
        </p:nvSpPr>
        <p:spPr>
          <a:xfrm>
            <a:off x="1874887" y="1611187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3" name="Google Shape;333;g3a8aba13ad6_0_48"/>
          <p:cNvCxnSpPr/>
          <p:nvPr/>
        </p:nvCxnSpPr>
        <p:spPr>
          <a:xfrm>
            <a:off x="3897578" y="1541191"/>
            <a:ext cx="0" cy="267000"/>
          </a:xfrm>
          <a:prstGeom prst="straightConnector1">
            <a:avLst/>
          </a:prstGeom>
          <a:noFill/>
          <a:ln w="762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5" name="Google Shape;335;g3a8aba13ad6_0_48"/>
          <p:cNvSpPr/>
          <p:nvPr/>
        </p:nvSpPr>
        <p:spPr>
          <a:xfrm>
            <a:off x="5499308" y="159670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a8aba13ad6_0_48"/>
          <p:cNvSpPr/>
          <p:nvPr/>
        </p:nvSpPr>
        <p:spPr>
          <a:xfrm>
            <a:off x="5190449" y="1597131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a8aba13ad6_0_48"/>
          <p:cNvSpPr txBox="1"/>
          <p:nvPr/>
        </p:nvSpPr>
        <p:spPr>
          <a:xfrm>
            <a:off x="681600" y="5876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Evolução Histórica</a:t>
            </a:r>
            <a:endParaRPr sz="1800" b="1"/>
          </a:p>
        </p:txBody>
      </p:sp>
      <p:sp>
        <p:nvSpPr>
          <p:cNvPr id="338" name="Google Shape;338;g3a8aba13ad6_0_48"/>
          <p:cNvSpPr txBox="1"/>
          <p:nvPr/>
        </p:nvSpPr>
        <p:spPr>
          <a:xfrm>
            <a:off x="3688797" y="1744773"/>
            <a:ext cx="6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 min</a:t>
            </a:r>
            <a:endParaRPr/>
          </a:p>
        </p:txBody>
      </p:sp>
      <p:sp>
        <p:nvSpPr>
          <p:cNvPr id="339" name="Google Shape;339;g3a8aba13ad6_0_48"/>
          <p:cNvSpPr txBox="1"/>
          <p:nvPr/>
        </p:nvSpPr>
        <p:spPr>
          <a:xfrm>
            <a:off x="7408350" y="1486713"/>
            <a:ext cx="10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Threshold</a:t>
            </a:r>
            <a:endParaRPr/>
          </a:p>
        </p:txBody>
      </p:sp>
      <p:cxnSp>
        <p:nvCxnSpPr>
          <p:cNvPr id="340" name="Google Shape;340;g3a8aba13ad6_0_48"/>
          <p:cNvCxnSpPr/>
          <p:nvPr/>
        </p:nvCxnSpPr>
        <p:spPr>
          <a:xfrm>
            <a:off x="1389752" y="5318146"/>
            <a:ext cx="5706600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" name="Google Shape;341;g3a8aba13ad6_0_48"/>
          <p:cNvSpPr/>
          <p:nvPr/>
        </p:nvSpPr>
        <p:spPr>
          <a:xfrm>
            <a:off x="6041254" y="519199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a8aba13ad6_0_48"/>
          <p:cNvSpPr/>
          <p:nvPr/>
        </p:nvSpPr>
        <p:spPr>
          <a:xfrm>
            <a:off x="6327179" y="519348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a8aba13ad6_0_48"/>
          <p:cNvSpPr/>
          <p:nvPr/>
        </p:nvSpPr>
        <p:spPr>
          <a:xfrm>
            <a:off x="6568579" y="519199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a8aba13ad6_0_48"/>
          <p:cNvSpPr/>
          <p:nvPr/>
        </p:nvSpPr>
        <p:spPr>
          <a:xfrm>
            <a:off x="5882089" y="5193061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a8aba13ad6_0_48"/>
          <p:cNvSpPr/>
          <p:nvPr/>
        </p:nvSpPr>
        <p:spPr>
          <a:xfrm>
            <a:off x="5755339" y="5191986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a8aba13ad6_0_48"/>
          <p:cNvSpPr/>
          <p:nvPr/>
        </p:nvSpPr>
        <p:spPr>
          <a:xfrm>
            <a:off x="5573229" y="519348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a8aba13ad6_0_48"/>
          <p:cNvSpPr/>
          <p:nvPr/>
        </p:nvSpPr>
        <p:spPr>
          <a:xfrm>
            <a:off x="3429436" y="522641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a8aba13ad6_0_48"/>
          <p:cNvSpPr/>
          <p:nvPr/>
        </p:nvSpPr>
        <p:spPr>
          <a:xfrm>
            <a:off x="3171333" y="5226433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a8aba13ad6_0_48"/>
          <p:cNvSpPr/>
          <p:nvPr/>
        </p:nvSpPr>
        <p:spPr>
          <a:xfrm>
            <a:off x="2838720" y="5226433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a8aba13ad6_0_48"/>
          <p:cNvSpPr/>
          <p:nvPr/>
        </p:nvSpPr>
        <p:spPr>
          <a:xfrm>
            <a:off x="2601086" y="522020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a8aba13ad6_0_48"/>
          <p:cNvSpPr/>
          <p:nvPr/>
        </p:nvSpPr>
        <p:spPr>
          <a:xfrm>
            <a:off x="2370687" y="5204108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a8aba13ad6_0_48"/>
          <p:cNvSpPr/>
          <p:nvPr/>
        </p:nvSpPr>
        <p:spPr>
          <a:xfrm>
            <a:off x="2128701" y="520409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a8aba13ad6_0_48"/>
          <p:cNvSpPr/>
          <p:nvPr/>
        </p:nvSpPr>
        <p:spPr>
          <a:xfrm>
            <a:off x="1902661" y="522641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4" name="Google Shape;354;g3a8aba13ad6_0_48"/>
          <p:cNvCxnSpPr/>
          <p:nvPr/>
        </p:nvCxnSpPr>
        <p:spPr>
          <a:xfrm>
            <a:off x="4388249" y="5156418"/>
            <a:ext cx="0" cy="267000"/>
          </a:xfrm>
          <a:prstGeom prst="straightConnector1">
            <a:avLst/>
          </a:prstGeom>
          <a:noFill/>
          <a:ln w="762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g3a8aba13ad6_0_48"/>
          <p:cNvSpPr/>
          <p:nvPr/>
        </p:nvSpPr>
        <p:spPr>
          <a:xfrm>
            <a:off x="5527082" y="521193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a8aba13ad6_0_48"/>
          <p:cNvSpPr/>
          <p:nvPr/>
        </p:nvSpPr>
        <p:spPr>
          <a:xfrm>
            <a:off x="5218222" y="521235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7" name="Google Shape;357;g3a8aba13ad6_0_48"/>
          <p:cNvCxnSpPr/>
          <p:nvPr/>
        </p:nvCxnSpPr>
        <p:spPr>
          <a:xfrm>
            <a:off x="5185230" y="5165403"/>
            <a:ext cx="0" cy="267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g3a8aba13ad6_0_48"/>
          <p:cNvCxnSpPr/>
          <p:nvPr/>
        </p:nvCxnSpPr>
        <p:spPr>
          <a:xfrm>
            <a:off x="3646275" y="5193177"/>
            <a:ext cx="0" cy="267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g3a8aba13ad6_0_48"/>
          <p:cNvSpPr/>
          <p:nvPr/>
        </p:nvSpPr>
        <p:spPr>
          <a:xfrm>
            <a:off x="4908214" y="5209679"/>
            <a:ext cx="182100" cy="195900"/>
          </a:xfrm>
          <a:prstGeom prst="ellipse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a8aba13ad6_0_48"/>
          <p:cNvSpPr txBox="1"/>
          <p:nvPr/>
        </p:nvSpPr>
        <p:spPr>
          <a:xfrm>
            <a:off x="3171325" y="5566793"/>
            <a:ext cx="106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Margem</a:t>
            </a:r>
            <a:endParaRPr sz="1200"/>
          </a:p>
        </p:txBody>
      </p:sp>
      <p:sp>
        <p:nvSpPr>
          <p:cNvPr id="361" name="Google Shape;361;g3a8aba13ad6_0_48"/>
          <p:cNvSpPr txBox="1"/>
          <p:nvPr/>
        </p:nvSpPr>
        <p:spPr>
          <a:xfrm>
            <a:off x="4778575" y="5559780"/>
            <a:ext cx="106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Margem</a:t>
            </a:r>
            <a:endParaRPr sz="1200"/>
          </a:p>
        </p:txBody>
      </p:sp>
      <p:cxnSp>
        <p:nvCxnSpPr>
          <p:cNvPr id="362" name="Google Shape;362;g3a8aba13ad6_0_48"/>
          <p:cNvCxnSpPr/>
          <p:nvPr/>
        </p:nvCxnSpPr>
        <p:spPr>
          <a:xfrm>
            <a:off x="1470937" y="3503233"/>
            <a:ext cx="5706600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3" name="Google Shape;363;g3a8aba13ad6_0_48"/>
          <p:cNvSpPr/>
          <p:nvPr/>
        </p:nvSpPr>
        <p:spPr>
          <a:xfrm>
            <a:off x="6122439" y="337707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a8aba13ad6_0_48"/>
          <p:cNvSpPr/>
          <p:nvPr/>
        </p:nvSpPr>
        <p:spPr>
          <a:xfrm>
            <a:off x="6408364" y="337857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a8aba13ad6_0_48"/>
          <p:cNvSpPr/>
          <p:nvPr/>
        </p:nvSpPr>
        <p:spPr>
          <a:xfrm>
            <a:off x="6649764" y="337707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a8aba13ad6_0_48"/>
          <p:cNvSpPr/>
          <p:nvPr/>
        </p:nvSpPr>
        <p:spPr>
          <a:xfrm>
            <a:off x="5963274" y="337814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3a8aba13ad6_0_48"/>
          <p:cNvSpPr/>
          <p:nvPr/>
        </p:nvSpPr>
        <p:spPr>
          <a:xfrm>
            <a:off x="5836524" y="3377072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a8aba13ad6_0_48"/>
          <p:cNvSpPr/>
          <p:nvPr/>
        </p:nvSpPr>
        <p:spPr>
          <a:xfrm>
            <a:off x="5654414" y="337857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a8aba13ad6_0_48"/>
          <p:cNvSpPr/>
          <p:nvPr/>
        </p:nvSpPr>
        <p:spPr>
          <a:xfrm>
            <a:off x="3510621" y="341150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a8aba13ad6_0_48"/>
          <p:cNvSpPr/>
          <p:nvPr/>
        </p:nvSpPr>
        <p:spPr>
          <a:xfrm>
            <a:off x="3252518" y="341151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a8aba13ad6_0_48"/>
          <p:cNvSpPr/>
          <p:nvPr/>
        </p:nvSpPr>
        <p:spPr>
          <a:xfrm>
            <a:off x="2919905" y="341151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3a8aba13ad6_0_48"/>
          <p:cNvSpPr/>
          <p:nvPr/>
        </p:nvSpPr>
        <p:spPr>
          <a:xfrm>
            <a:off x="2682271" y="3405296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a8aba13ad6_0_48"/>
          <p:cNvSpPr/>
          <p:nvPr/>
        </p:nvSpPr>
        <p:spPr>
          <a:xfrm>
            <a:off x="2451872" y="338919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a8aba13ad6_0_48"/>
          <p:cNvSpPr/>
          <p:nvPr/>
        </p:nvSpPr>
        <p:spPr>
          <a:xfrm>
            <a:off x="2209886" y="3389186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a8aba13ad6_0_48"/>
          <p:cNvSpPr/>
          <p:nvPr/>
        </p:nvSpPr>
        <p:spPr>
          <a:xfrm>
            <a:off x="1983846" y="341150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6" name="Google Shape;376;g3a8aba13ad6_0_48"/>
          <p:cNvCxnSpPr/>
          <p:nvPr/>
        </p:nvCxnSpPr>
        <p:spPr>
          <a:xfrm>
            <a:off x="4469434" y="3341505"/>
            <a:ext cx="0" cy="267000"/>
          </a:xfrm>
          <a:prstGeom prst="straightConnector1">
            <a:avLst/>
          </a:prstGeom>
          <a:noFill/>
          <a:ln w="762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g3a8aba13ad6_0_48"/>
          <p:cNvSpPr/>
          <p:nvPr/>
        </p:nvSpPr>
        <p:spPr>
          <a:xfrm>
            <a:off x="5608267" y="339701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a8aba13ad6_0_48"/>
          <p:cNvSpPr/>
          <p:nvPr/>
        </p:nvSpPr>
        <p:spPr>
          <a:xfrm>
            <a:off x="5299407" y="3397446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9" name="Google Shape;379;g3a8aba13ad6_0_48"/>
          <p:cNvCxnSpPr/>
          <p:nvPr/>
        </p:nvCxnSpPr>
        <p:spPr>
          <a:xfrm>
            <a:off x="5266415" y="3350490"/>
            <a:ext cx="0" cy="267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g3a8aba13ad6_0_48"/>
          <p:cNvCxnSpPr/>
          <p:nvPr/>
        </p:nvCxnSpPr>
        <p:spPr>
          <a:xfrm>
            <a:off x="3727460" y="3378264"/>
            <a:ext cx="0" cy="267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1" name="Google Shape;381;g3a8aba13ad6_0_48"/>
          <p:cNvSpPr txBox="1"/>
          <p:nvPr/>
        </p:nvSpPr>
        <p:spPr>
          <a:xfrm>
            <a:off x="3252510" y="3751880"/>
            <a:ext cx="106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Margem</a:t>
            </a:r>
            <a:endParaRPr sz="1200"/>
          </a:p>
        </p:txBody>
      </p:sp>
      <p:sp>
        <p:nvSpPr>
          <p:cNvPr id="382" name="Google Shape;382;g3a8aba13ad6_0_48"/>
          <p:cNvSpPr txBox="1"/>
          <p:nvPr/>
        </p:nvSpPr>
        <p:spPr>
          <a:xfrm>
            <a:off x="4859760" y="3744867"/>
            <a:ext cx="106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Margem</a:t>
            </a:r>
            <a:endParaRPr sz="1200"/>
          </a:p>
        </p:txBody>
      </p:sp>
      <p:sp>
        <p:nvSpPr>
          <p:cNvPr id="383" name="Google Shape;383;g3a8aba13ad6_0_48"/>
          <p:cNvSpPr txBox="1"/>
          <p:nvPr/>
        </p:nvSpPr>
        <p:spPr>
          <a:xfrm>
            <a:off x="7463025" y="3096113"/>
            <a:ext cx="1061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Maximum Margin Classifier</a:t>
            </a:r>
            <a:endParaRPr/>
          </a:p>
        </p:txBody>
      </p:sp>
      <p:sp>
        <p:nvSpPr>
          <p:cNvPr id="384" name="Google Shape;384;g3a8aba13ad6_0_48"/>
          <p:cNvSpPr txBox="1"/>
          <p:nvPr/>
        </p:nvSpPr>
        <p:spPr>
          <a:xfrm>
            <a:off x="7436125" y="4911013"/>
            <a:ext cx="1061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Soft Margin Classifier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8aba13ad6_0_26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Fronteiras de Decisão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g3a8aba13ad6_0_265"/>
          <p:cNvCxnSpPr/>
          <p:nvPr/>
        </p:nvCxnSpPr>
        <p:spPr>
          <a:xfrm>
            <a:off x="1630045" y="2827863"/>
            <a:ext cx="5564100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g3a8aba13ad6_0_265"/>
          <p:cNvSpPr/>
          <p:nvPr/>
        </p:nvSpPr>
        <p:spPr>
          <a:xfrm>
            <a:off x="6139024" y="270170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a8aba13ad6_0_265"/>
          <p:cNvSpPr/>
          <p:nvPr/>
        </p:nvSpPr>
        <p:spPr>
          <a:xfrm>
            <a:off x="6424949" y="270319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a8aba13ad6_0_265"/>
          <p:cNvSpPr/>
          <p:nvPr/>
        </p:nvSpPr>
        <p:spPr>
          <a:xfrm>
            <a:off x="6666349" y="270170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a8aba13ad6_0_265"/>
          <p:cNvSpPr/>
          <p:nvPr/>
        </p:nvSpPr>
        <p:spPr>
          <a:xfrm>
            <a:off x="5979859" y="270277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a8aba13ad6_0_265"/>
          <p:cNvSpPr/>
          <p:nvPr/>
        </p:nvSpPr>
        <p:spPr>
          <a:xfrm>
            <a:off x="5853109" y="270169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a8aba13ad6_0_265"/>
          <p:cNvSpPr/>
          <p:nvPr/>
        </p:nvSpPr>
        <p:spPr>
          <a:xfrm>
            <a:off x="5670999" y="270319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a8aba13ad6_0_265"/>
          <p:cNvSpPr/>
          <p:nvPr/>
        </p:nvSpPr>
        <p:spPr>
          <a:xfrm>
            <a:off x="4537756" y="2720576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8aba13ad6_0_265"/>
          <p:cNvSpPr/>
          <p:nvPr/>
        </p:nvSpPr>
        <p:spPr>
          <a:xfrm>
            <a:off x="4378590" y="2721645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a8aba13ad6_0_265"/>
          <p:cNvSpPr/>
          <p:nvPr/>
        </p:nvSpPr>
        <p:spPr>
          <a:xfrm>
            <a:off x="4251840" y="2720570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a8aba13ad6_0_265"/>
          <p:cNvSpPr/>
          <p:nvPr/>
        </p:nvSpPr>
        <p:spPr>
          <a:xfrm>
            <a:off x="4069731" y="272207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a8aba13ad6_0_265"/>
          <p:cNvSpPr/>
          <p:nvPr/>
        </p:nvSpPr>
        <p:spPr>
          <a:xfrm>
            <a:off x="4814782" y="2721645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3a8aba13ad6_0_265"/>
          <p:cNvSpPr/>
          <p:nvPr/>
        </p:nvSpPr>
        <p:spPr>
          <a:xfrm>
            <a:off x="4976084" y="271381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a8aba13ad6_0_265"/>
          <p:cNvSpPr/>
          <p:nvPr/>
        </p:nvSpPr>
        <p:spPr>
          <a:xfrm>
            <a:off x="3864031" y="2729901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a8aba13ad6_0_265"/>
          <p:cNvSpPr txBox="1"/>
          <p:nvPr/>
        </p:nvSpPr>
        <p:spPr>
          <a:xfrm>
            <a:off x="2810695" y="18403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Dosagem de Medicação</a:t>
            </a:r>
            <a:endParaRPr sz="1800" b="1"/>
          </a:p>
        </p:txBody>
      </p:sp>
      <p:sp>
        <p:nvSpPr>
          <p:cNvPr id="405" name="Google Shape;405;g3a8aba13ad6_0_265"/>
          <p:cNvSpPr txBox="1"/>
          <p:nvPr/>
        </p:nvSpPr>
        <p:spPr>
          <a:xfrm>
            <a:off x="3864022" y="3016667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A20000"/>
                </a:solidFill>
              </a:rPr>
              <a:t>Não Cura</a:t>
            </a:r>
            <a:endParaRPr sz="1300">
              <a:solidFill>
                <a:srgbClr val="A20000"/>
              </a:solidFill>
            </a:endParaRPr>
          </a:p>
        </p:txBody>
      </p:sp>
      <p:sp>
        <p:nvSpPr>
          <p:cNvPr id="406" name="Google Shape;406;g3a8aba13ad6_0_265"/>
          <p:cNvSpPr txBox="1"/>
          <p:nvPr/>
        </p:nvSpPr>
        <p:spPr>
          <a:xfrm>
            <a:off x="5808997" y="3016667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0B050"/>
                </a:solidFill>
              </a:rPr>
              <a:t>Cura</a:t>
            </a:r>
            <a:endParaRPr sz="1300">
              <a:solidFill>
                <a:srgbClr val="00B050"/>
              </a:solidFill>
            </a:endParaRPr>
          </a:p>
        </p:txBody>
      </p:sp>
      <p:sp>
        <p:nvSpPr>
          <p:cNvPr id="407" name="Google Shape;407;g3a8aba13ad6_0_265"/>
          <p:cNvSpPr/>
          <p:nvPr/>
        </p:nvSpPr>
        <p:spPr>
          <a:xfrm>
            <a:off x="2383228" y="2716630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a8aba13ad6_0_265"/>
          <p:cNvSpPr/>
          <p:nvPr/>
        </p:nvSpPr>
        <p:spPr>
          <a:xfrm>
            <a:off x="2669153" y="271812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a8aba13ad6_0_265"/>
          <p:cNvSpPr/>
          <p:nvPr/>
        </p:nvSpPr>
        <p:spPr>
          <a:xfrm>
            <a:off x="2097313" y="271662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a8aba13ad6_0_265"/>
          <p:cNvSpPr/>
          <p:nvPr/>
        </p:nvSpPr>
        <p:spPr>
          <a:xfrm>
            <a:off x="1915203" y="271812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a8aba13ad6_0_265"/>
          <p:cNvSpPr/>
          <p:nvPr/>
        </p:nvSpPr>
        <p:spPr>
          <a:xfrm>
            <a:off x="3037584" y="2723231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a8aba13ad6_0_265"/>
          <p:cNvSpPr/>
          <p:nvPr/>
        </p:nvSpPr>
        <p:spPr>
          <a:xfrm>
            <a:off x="2522252" y="270869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g3a8aba13ad6_0_265"/>
          <p:cNvSpPr/>
          <p:nvPr/>
        </p:nvSpPr>
        <p:spPr>
          <a:xfrm>
            <a:off x="3352204" y="271380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3a8aba13ad6_0_265"/>
          <p:cNvSpPr txBox="1"/>
          <p:nvPr/>
        </p:nvSpPr>
        <p:spPr>
          <a:xfrm>
            <a:off x="2264229" y="3006844"/>
            <a:ext cx="57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0B050"/>
                </a:solidFill>
              </a:rPr>
              <a:t>Cura</a:t>
            </a:r>
            <a:endParaRPr sz="13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8aba13ad6_0_29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Fronteiras de Decisão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g3a8aba13ad6_0_295"/>
          <p:cNvCxnSpPr/>
          <p:nvPr/>
        </p:nvCxnSpPr>
        <p:spPr>
          <a:xfrm>
            <a:off x="1630045" y="4163327"/>
            <a:ext cx="5564100" cy="0"/>
          </a:xfrm>
          <a:prstGeom prst="straightConnector1">
            <a:avLst/>
          </a:prstGeom>
          <a:noFill/>
          <a:ln w="28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1" name="Google Shape;421;g3a8aba13ad6_0_295"/>
          <p:cNvSpPr/>
          <p:nvPr/>
        </p:nvSpPr>
        <p:spPr>
          <a:xfrm>
            <a:off x="6139024" y="403716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a8aba13ad6_0_295"/>
          <p:cNvSpPr/>
          <p:nvPr/>
        </p:nvSpPr>
        <p:spPr>
          <a:xfrm>
            <a:off x="6424949" y="403866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a8aba13ad6_0_295"/>
          <p:cNvSpPr/>
          <p:nvPr/>
        </p:nvSpPr>
        <p:spPr>
          <a:xfrm>
            <a:off x="6666349" y="4037168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a8aba13ad6_0_295"/>
          <p:cNvSpPr/>
          <p:nvPr/>
        </p:nvSpPr>
        <p:spPr>
          <a:xfrm>
            <a:off x="5979859" y="403823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a8aba13ad6_0_295"/>
          <p:cNvSpPr/>
          <p:nvPr/>
        </p:nvSpPr>
        <p:spPr>
          <a:xfrm>
            <a:off x="5853109" y="4037162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a8aba13ad6_0_295"/>
          <p:cNvSpPr/>
          <p:nvPr/>
        </p:nvSpPr>
        <p:spPr>
          <a:xfrm>
            <a:off x="5670999" y="4038663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a8aba13ad6_0_295"/>
          <p:cNvSpPr/>
          <p:nvPr/>
        </p:nvSpPr>
        <p:spPr>
          <a:xfrm>
            <a:off x="4537756" y="4056040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a8aba13ad6_0_295"/>
          <p:cNvSpPr/>
          <p:nvPr/>
        </p:nvSpPr>
        <p:spPr>
          <a:xfrm>
            <a:off x="4378590" y="405710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a8aba13ad6_0_295"/>
          <p:cNvSpPr/>
          <p:nvPr/>
        </p:nvSpPr>
        <p:spPr>
          <a:xfrm>
            <a:off x="4251840" y="4056034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3a8aba13ad6_0_295"/>
          <p:cNvSpPr/>
          <p:nvPr/>
        </p:nvSpPr>
        <p:spPr>
          <a:xfrm>
            <a:off x="4069731" y="4057535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a8aba13ad6_0_295"/>
          <p:cNvSpPr/>
          <p:nvPr/>
        </p:nvSpPr>
        <p:spPr>
          <a:xfrm>
            <a:off x="4814782" y="4057109"/>
            <a:ext cx="182100" cy="195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g3a8aba13ad6_0_295"/>
          <p:cNvSpPr txBox="1"/>
          <p:nvPr/>
        </p:nvSpPr>
        <p:spPr>
          <a:xfrm>
            <a:off x="3864022" y="4352131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A20000"/>
                </a:solidFill>
              </a:rPr>
              <a:t>Não Cura</a:t>
            </a:r>
            <a:endParaRPr sz="1300">
              <a:solidFill>
                <a:srgbClr val="A20000"/>
              </a:solidFill>
            </a:endParaRPr>
          </a:p>
        </p:txBody>
      </p:sp>
      <p:sp>
        <p:nvSpPr>
          <p:cNvPr id="433" name="Google Shape;433;g3a8aba13ad6_0_295"/>
          <p:cNvSpPr txBox="1"/>
          <p:nvPr/>
        </p:nvSpPr>
        <p:spPr>
          <a:xfrm>
            <a:off x="5808997" y="4352131"/>
            <a:ext cx="164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0B050"/>
                </a:solidFill>
              </a:rPr>
              <a:t>Cura</a:t>
            </a:r>
            <a:endParaRPr sz="1300">
              <a:solidFill>
                <a:srgbClr val="00B050"/>
              </a:solidFill>
            </a:endParaRPr>
          </a:p>
        </p:txBody>
      </p:sp>
      <p:sp>
        <p:nvSpPr>
          <p:cNvPr id="434" name="Google Shape;434;g3a8aba13ad6_0_295"/>
          <p:cNvSpPr/>
          <p:nvPr/>
        </p:nvSpPr>
        <p:spPr>
          <a:xfrm>
            <a:off x="2383228" y="4052094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a8aba13ad6_0_295"/>
          <p:cNvSpPr/>
          <p:nvPr/>
        </p:nvSpPr>
        <p:spPr>
          <a:xfrm>
            <a:off x="2669153" y="405358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a8aba13ad6_0_295"/>
          <p:cNvSpPr/>
          <p:nvPr/>
        </p:nvSpPr>
        <p:spPr>
          <a:xfrm>
            <a:off x="2097313" y="4052087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a8aba13ad6_0_295"/>
          <p:cNvSpPr/>
          <p:nvPr/>
        </p:nvSpPr>
        <p:spPr>
          <a:xfrm>
            <a:off x="1915203" y="4053589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a8aba13ad6_0_295"/>
          <p:cNvSpPr/>
          <p:nvPr/>
        </p:nvSpPr>
        <p:spPr>
          <a:xfrm>
            <a:off x="3037584" y="4058695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a8aba13ad6_0_295"/>
          <p:cNvSpPr/>
          <p:nvPr/>
        </p:nvSpPr>
        <p:spPr>
          <a:xfrm>
            <a:off x="2522252" y="4044162"/>
            <a:ext cx="182100" cy="195900"/>
          </a:xfrm>
          <a:prstGeom prst="ellipse">
            <a:avLst/>
          </a:prstGeom>
          <a:solidFill>
            <a:srgbClr val="00B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a8aba13ad6_0_295"/>
          <p:cNvSpPr txBox="1"/>
          <p:nvPr/>
        </p:nvSpPr>
        <p:spPr>
          <a:xfrm>
            <a:off x="2264229" y="4342307"/>
            <a:ext cx="57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0B050"/>
                </a:solidFill>
              </a:rPr>
              <a:t>Cura</a:t>
            </a:r>
            <a:endParaRPr sz="13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6eb4f487f_0_16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8aba13ad6_0_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a8aba13ad6_0_0"/>
          <p:cNvSpPr txBox="1"/>
          <p:nvPr/>
        </p:nvSpPr>
        <p:spPr>
          <a:xfrm>
            <a:off x="254072" y="1091775"/>
            <a:ext cx="8872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Modelo de aprendizado de máquina que busca criar uma linha, plano ou hiperplano de separação entre classes, e ao mesmo tempo maximizar a margem entre elas.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Os pontos mais próximos a margem são os vetores de suporte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g3a8aba13ad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625" y="3016175"/>
            <a:ext cx="2032711" cy="5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a8aba13ad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5413" y="3988562"/>
            <a:ext cx="5353176" cy="12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3389aa854_0_1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g3e3389aa854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699" y="844925"/>
            <a:ext cx="7913549" cy="527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48f0ed114_0_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e48f0ed114_0_2"/>
          <p:cNvSpPr txBox="1"/>
          <p:nvPr/>
        </p:nvSpPr>
        <p:spPr>
          <a:xfrm>
            <a:off x="254072" y="1091775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Função objetivo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g3e48f0ed11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750" y="1979100"/>
            <a:ext cx="2584500" cy="11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e48f0ed114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325" y="3820750"/>
            <a:ext cx="36957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e48f0ed114_0_2"/>
          <p:cNvSpPr txBox="1"/>
          <p:nvPr/>
        </p:nvSpPr>
        <p:spPr>
          <a:xfrm>
            <a:off x="942725" y="3245050"/>
            <a:ext cx="703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Em que:</a:t>
            </a:r>
            <a:endParaRPr sz="1800"/>
          </a:p>
        </p:txBody>
      </p:sp>
      <p:sp>
        <p:nvSpPr>
          <p:cNvPr id="469" name="Google Shape;469;g3e48f0ed114_0_2"/>
          <p:cNvSpPr txBox="1"/>
          <p:nvPr/>
        </p:nvSpPr>
        <p:spPr>
          <a:xfrm>
            <a:off x="515325" y="5631950"/>
            <a:ext cx="703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Otimização convexa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48f0ed114_0_1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e48f0ed114_0_12"/>
          <p:cNvSpPr txBox="1"/>
          <p:nvPr/>
        </p:nvSpPr>
        <p:spPr>
          <a:xfrm>
            <a:off x="193022" y="871975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E se eu tiver este cenário?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e48f0ed11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275" y="1539525"/>
            <a:ext cx="5080000" cy="46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48f0ed114_0_2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e48f0ed114_0_24"/>
          <p:cNvSpPr txBox="1"/>
          <p:nvPr/>
        </p:nvSpPr>
        <p:spPr>
          <a:xfrm>
            <a:off x="193022" y="871975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Acrescentando mais uma dimensão temos: 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g3e48f0ed11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800" y="1673800"/>
            <a:ext cx="4804650" cy="3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48f0ed114_0_3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e48f0ed114_0_31"/>
          <p:cNvSpPr txBox="1"/>
          <p:nvPr/>
        </p:nvSpPr>
        <p:spPr>
          <a:xfrm>
            <a:off x="193022" y="871975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Kernel trick 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3e48f0ed11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413" y="2345450"/>
            <a:ext cx="55911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48f0ed114_0_3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e48f0ed114_0_38"/>
          <p:cNvSpPr txBox="1"/>
          <p:nvPr/>
        </p:nvSpPr>
        <p:spPr>
          <a:xfrm>
            <a:off x="193022" y="871975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 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g3e48f0ed114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25" y="1527300"/>
            <a:ext cx="28479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e48f0ed114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325" y="3005875"/>
            <a:ext cx="3581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e48f0ed114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325" y="4408250"/>
            <a:ext cx="33909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48f0ed114_0_38"/>
          <p:cNvSpPr txBox="1"/>
          <p:nvPr/>
        </p:nvSpPr>
        <p:spPr>
          <a:xfrm>
            <a:off x="4679450" y="2117475"/>
            <a:ext cx="449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Sem transformação</a:t>
            </a:r>
            <a:endParaRPr sz="1800"/>
          </a:p>
        </p:txBody>
      </p:sp>
      <p:sp>
        <p:nvSpPr>
          <p:cNvPr id="501" name="Google Shape;501;g3e48f0ed114_0_38"/>
          <p:cNvSpPr txBox="1"/>
          <p:nvPr/>
        </p:nvSpPr>
        <p:spPr>
          <a:xfrm>
            <a:off x="4573925" y="3527675"/>
            <a:ext cx="449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Curvas simple</a:t>
            </a:r>
            <a:endParaRPr sz="1800"/>
          </a:p>
        </p:txBody>
      </p:sp>
      <p:sp>
        <p:nvSpPr>
          <p:cNvPr id="502" name="Google Shape;502;g3e48f0ed114_0_38"/>
          <p:cNvSpPr txBox="1"/>
          <p:nvPr/>
        </p:nvSpPr>
        <p:spPr>
          <a:xfrm>
            <a:off x="4679450" y="4840175"/>
            <a:ext cx="449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Fronteiras simples</a:t>
            </a:r>
            <a:endParaRPr sz="1800"/>
          </a:p>
        </p:txBody>
      </p:sp>
      <p:sp>
        <p:nvSpPr>
          <p:cNvPr id="503" name="Google Shape;503;g3e48f0ed114_0_38"/>
          <p:cNvSpPr txBox="1"/>
          <p:nvPr/>
        </p:nvSpPr>
        <p:spPr>
          <a:xfrm>
            <a:off x="74847" y="58765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Tipos de Kernel 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48f0ed114_0_5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e48f0ed114_0_53"/>
          <p:cNvSpPr txBox="1"/>
          <p:nvPr/>
        </p:nvSpPr>
        <p:spPr>
          <a:xfrm>
            <a:off x="74847" y="58765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Hiperparâmetros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g3e48f0ed114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413925"/>
            <a:ext cx="8839200" cy="34919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1" name="Google Shape;511;g3e48f0ed114_0_53"/>
          <p:cNvCxnSpPr/>
          <p:nvPr/>
        </p:nvCxnSpPr>
        <p:spPr>
          <a:xfrm rot="10800000">
            <a:off x="1333500" y="2056425"/>
            <a:ext cx="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2" name="Google Shape;512;g3e48f0ed114_0_53"/>
          <p:cNvSpPr txBox="1"/>
          <p:nvPr/>
        </p:nvSpPr>
        <p:spPr>
          <a:xfrm>
            <a:off x="1418975" y="2033175"/>
            <a:ext cx="14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Overfitting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48f0ed114_0_69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Classificadores Multiclasse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48f0ed114_0_7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Classificadores Multiclasse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e48f0ed114_0_73"/>
          <p:cNvSpPr txBox="1"/>
          <p:nvPr/>
        </p:nvSpPr>
        <p:spPr>
          <a:xfrm>
            <a:off x="193022" y="871975"/>
            <a:ext cx="88722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KNN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Árvore de Decisão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Random Forest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XGBoost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Naive Bayes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Regressão Logística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SVMs 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48f0ed114_0_73"/>
          <p:cNvSpPr/>
          <p:nvPr/>
        </p:nvSpPr>
        <p:spPr>
          <a:xfrm>
            <a:off x="3861300" y="1543550"/>
            <a:ext cx="1282200" cy="65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e48f0ed114_0_73"/>
          <p:cNvSpPr/>
          <p:nvPr/>
        </p:nvSpPr>
        <p:spPr>
          <a:xfrm>
            <a:off x="3772150" y="3002575"/>
            <a:ext cx="1282200" cy="65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3e48f0ed114_0_73"/>
          <p:cNvSpPr txBox="1"/>
          <p:nvPr/>
        </p:nvSpPr>
        <p:spPr>
          <a:xfrm>
            <a:off x="5961675" y="1629025"/>
            <a:ext cx="210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Já são multiclasse</a:t>
            </a:r>
            <a:endParaRPr sz="1800"/>
          </a:p>
        </p:txBody>
      </p:sp>
      <p:sp>
        <p:nvSpPr>
          <p:cNvPr id="527" name="Google Shape;527;g3e48f0ed114_0_73"/>
          <p:cNvSpPr txBox="1"/>
          <p:nvPr/>
        </p:nvSpPr>
        <p:spPr>
          <a:xfrm>
            <a:off x="5961675" y="3101425"/>
            <a:ext cx="249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Não são multiclasse</a:t>
            </a:r>
            <a:endParaRPr sz="1800"/>
          </a:p>
        </p:txBody>
      </p:sp>
      <p:sp>
        <p:nvSpPr>
          <p:cNvPr id="528" name="Google Shape;528;g3e48f0ed114_0_73"/>
          <p:cNvSpPr txBox="1"/>
          <p:nvPr/>
        </p:nvSpPr>
        <p:spPr>
          <a:xfrm>
            <a:off x="625225" y="4779600"/>
            <a:ext cx="7680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/>
              <a:t>One-vs-Rest (OvR)            X             One-vs-One (OvO)</a:t>
            </a:r>
            <a:endParaRPr sz="23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48f0ed114_0_8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e48f0ed114_0_84"/>
          <p:cNvSpPr txBox="1"/>
          <p:nvPr/>
        </p:nvSpPr>
        <p:spPr>
          <a:xfrm>
            <a:off x="95047" y="58765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One-vs-Rest (OvR)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g3e48f0ed114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938" y="953875"/>
            <a:ext cx="7342436" cy="46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3e48f0ed114_0_84"/>
          <p:cNvSpPr txBox="1"/>
          <p:nvPr/>
        </p:nvSpPr>
        <p:spPr>
          <a:xfrm>
            <a:off x="636875" y="5870375"/>
            <a:ext cx="288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8761D"/>
                </a:solidFill>
              </a:rPr>
              <a:t>Simples, escalável (linear)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37" name="Google Shape;537;g3e48f0ed114_0_84"/>
          <p:cNvSpPr txBox="1"/>
          <p:nvPr/>
        </p:nvSpPr>
        <p:spPr>
          <a:xfrm>
            <a:off x="4558725" y="5870375"/>
            <a:ext cx="376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80000"/>
                </a:solidFill>
              </a:rPr>
              <a:t>Desbalanceamento, ambiguidade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48f0ed114_0_9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e48f0ed114_0_93"/>
          <p:cNvSpPr txBox="1"/>
          <p:nvPr/>
        </p:nvSpPr>
        <p:spPr>
          <a:xfrm>
            <a:off x="74847" y="85630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One-vs-One (OvO)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3e48f0ed114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650" y="1318000"/>
            <a:ext cx="7408711" cy="45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e48f0ed114_0_93"/>
          <p:cNvSpPr txBox="1"/>
          <p:nvPr/>
        </p:nvSpPr>
        <p:spPr>
          <a:xfrm>
            <a:off x="636875" y="5870375"/>
            <a:ext cx="288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8761D"/>
                </a:solidFill>
              </a:rPr>
              <a:t>Classificadores pequenos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46" name="Google Shape;546;g3e48f0ed114_0_93"/>
          <p:cNvSpPr txBox="1"/>
          <p:nvPr/>
        </p:nvSpPr>
        <p:spPr>
          <a:xfrm>
            <a:off x="4558725" y="5870375"/>
            <a:ext cx="376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80000"/>
                </a:solidFill>
              </a:rPr>
              <a:t>Muitos classificadores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48f0ed114_0_99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48f0ed114_2_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e48f0ed114_2_6"/>
          <p:cNvSpPr txBox="1"/>
          <p:nvPr/>
        </p:nvSpPr>
        <p:spPr>
          <a:xfrm>
            <a:off x="74847" y="85630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Redes Neurais Feed Forward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g3e48f0ed114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600" y="1415300"/>
            <a:ext cx="4019625" cy="286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e48f0ed114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350" y="4327775"/>
            <a:ext cx="48101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e48f0ed114_2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75" y="5023100"/>
            <a:ext cx="28384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e48f0ed114_2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2989" y="5715775"/>
            <a:ext cx="1506036" cy="5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48f0ed114_2_1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e48f0ed114_2_17"/>
          <p:cNvSpPr txBox="1"/>
          <p:nvPr/>
        </p:nvSpPr>
        <p:spPr>
          <a:xfrm>
            <a:off x="74847" y="85630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Função Sigmóide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Google Shape;568;g3e48f0ed114_2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25" y="2140750"/>
            <a:ext cx="21050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3e48f0ed114_2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6750" y="749950"/>
            <a:ext cx="4982575" cy="30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e48f0ed114_2_17"/>
          <p:cNvSpPr txBox="1"/>
          <p:nvPr/>
        </p:nvSpPr>
        <p:spPr>
          <a:xfrm>
            <a:off x="74850" y="3479775"/>
            <a:ext cx="5316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Retorna probabilidades (0 e 1)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80000"/>
                </a:solidFill>
              </a:rPr>
              <a:t>Vanishing gradient</a:t>
            </a:r>
            <a:endParaRPr sz="1800">
              <a:solidFill>
                <a:srgbClr val="9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71" name="Google Shape;571;g3e48f0ed114_2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298" y="3970250"/>
            <a:ext cx="2281875" cy="2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48f0ed114_2_3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e48f0ed114_2_33"/>
          <p:cNvSpPr txBox="1"/>
          <p:nvPr/>
        </p:nvSpPr>
        <p:spPr>
          <a:xfrm>
            <a:off x="74847" y="85630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Função Tangente Hiperbólica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e48f0ed114_2_33"/>
          <p:cNvSpPr txBox="1"/>
          <p:nvPr/>
        </p:nvSpPr>
        <p:spPr>
          <a:xfrm>
            <a:off x="74850" y="3479775"/>
            <a:ext cx="5316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Retorna probabilidades (-1 e 1)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Treinamento costuma ser mais rápido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80000"/>
                </a:solidFill>
              </a:rPr>
              <a:t>Vanishing gradient</a:t>
            </a:r>
            <a:endParaRPr sz="1800">
              <a:solidFill>
                <a:srgbClr val="9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79" name="Google Shape;579;g3e48f0ed114_2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50" y="2140750"/>
            <a:ext cx="24955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e48f0ed114_2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637" y="1083438"/>
            <a:ext cx="4665375" cy="27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e48f0ed114_2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285" y="4148775"/>
            <a:ext cx="2040701" cy="20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e48f0ed114_2_4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e48f0ed114_2_43"/>
          <p:cNvSpPr txBox="1"/>
          <p:nvPr/>
        </p:nvSpPr>
        <p:spPr>
          <a:xfrm>
            <a:off x="74847" y="856300"/>
            <a:ext cx="887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Função ReLU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e48f0ed114_2_43"/>
          <p:cNvSpPr txBox="1"/>
          <p:nvPr/>
        </p:nvSpPr>
        <p:spPr>
          <a:xfrm>
            <a:off x="74850" y="3479775"/>
            <a:ext cx="5316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Corta valores negativos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Linear para valores positivos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8761D"/>
                </a:solidFill>
              </a:rPr>
              <a:t>diminui o Vanishing gradient</a:t>
            </a:r>
            <a:endParaRPr sz="180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89" name="Google Shape;589;g3e48f0ed114_2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75" y="1872100"/>
            <a:ext cx="227647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e48f0ed114_2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558" y="708272"/>
            <a:ext cx="4260867" cy="29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e48f0ed114_2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5374" y="3976650"/>
            <a:ext cx="2339025" cy="23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48f0ed114_2_5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Neurais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e48f0ed114_2_56"/>
          <p:cNvSpPr txBox="1"/>
          <p:nvPr/>
        </p:nvSpPr>
        <p:spPr>
          <a:xfrm>
            <a:off x="3858200" y="4181250"/>
            <a:ext cx="433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https://www.youtube.com/watch?v=_Lj4DOv-4wQ</a:t>
            </a:r>
            <a:endParaRPr/>
          </a:p>
        </p:txBody>
      </p:sp>
      <p:sp>
        <p:nvSpPr>
          <p:cNvPr id="598" name="Google Shape;598;g3e48f0ed114_2_56"/>
          <p:cNvSpPr txBox="1"/>
          <p:nvPr/>
        </p:nvSpPr>
        <p:spPr>
          <a:xfrm>
            <a:off x="295375" y="4150500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Backpropagation</a:t>
            </a:r>
            <a:endParaRPr sz="1800"/>
          </a:p>
        </p:txBody>
      </p:sp>
      <p:sp>
        <p:nvSpPr>
          <p:cNvPr id="599" name="Google Shape;599;g3e48f0ed114_2_56"/>
          <p:cNvSpPr txBox="1"/>
          <p:nvPr/>
        </p:nvSpPr>
        <p:spPr>
          <a:xfrm>
            <a:off x="3858200" y="2871500"/>
            <a:ext cx="502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https://www.youtube.com/watch?v=qX7nL9CvKqw&amp;list=PLxI8Can9yAHfB2om9dqhsrsjRAf-YJaro&amp;index=7</a:t>
            </a:r>
            <a:endParaRPr/>
          </a:p>
        </p:txBody>
      </p:sp>
      <p:sp>
        <p:nvSpPr>
          <p:cNvPr id="600" name="Google Shape;600;g3e48f0ed114_2_56"/>
          <p:cNvSpPr txBox="1"/>
          <p:nvPr/>
        </p:nvSpPr>
        <p:spPr>
          <a:xfrm>
            <a:off x="295375" y="2948450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MLP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6eb4f487f_0_308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PresentationFormat>Apresentação na tela (4:3)</PresentationFormat>
  <Paragraphs>139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29</vt:i4>
      </vt:variant>
    </vt:vector>
  </HeadingPairs>
  <TitlesOfParts>
    <vt:vector size="37" baseType="lpstr">
      <vt:lpstr>Arial</vt:lpstr>
      <vt:lpstr>Calibri</vt:lpstr>
      <vt:lpstr>Noto Sans Symbols</vt:lpstr>
      <vt:lpstr>Times New Roman</vt:lpstr>
      <vt:lpstr>Verdana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1</cp:revision>
  <dcterms:created xsi:type="dcterms:W3CDTF">2013-10-10T17:31:52Z</dcterms:created>
  <dcterms:modified xsi:type="dcterms:W3CDTF">2026-06-09T17:55:00Z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