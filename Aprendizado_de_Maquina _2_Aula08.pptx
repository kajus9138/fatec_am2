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4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rHhAhp1ifhm4i5W77j+aFUsT6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customschemas.google.com/relationships/presentationmetadata" Target="metadata"/><Relationship Id="rId48" Type="http://schemas.microsoft.com/office/2016/11/relationships/changesInfo" Target="changesInfos/changesInfo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que Almeida Justino da Silva" userId="80cecd39-0bb3-4568-aadc-2c47a6d51773" providerId="ADAL" clId="{104D16F3-0830-409B-B338-B1F24D90F70E}"/>
    <pc:docChg chg="custSel modSld">
      <pc:chgData name="Kaique Almeida Justino da Silva" userId="80cecd39-0bb3-4568-aadc-2c47a6d51773" providerId="ADAL" clId="{104D16F3-0830-409B-B338-B1F24D90F70E}" dt="2026-06-09T18:11:00.730" v="21"/>
      <pc:docMkLst>
        <pc:docMk/>
      </pc:docMkLst>
      <pc:sldChg chg="modSp mod">
        <pc:chgData name="Kaique Almeida Justino da Silva" userId="80cecd39-0bb3-4568-aadc-2c47a6d51773" providerId="ADAL" clId="{104D16F3-0830-409B-B338-B1F24D90F70E}" dt="2026-06-09T18:00:42.942" v="0" actId="1036"/>
        <pc:sldMkLst>
          <pc:docMk/>
          <pc:sldMk cId="0" sldId="259"/>
        </pc:sldMkLst>
        <pc:picChg chg="mod">
          <ac:chgData name="Kaique Almeida Justino da Silva" userId="80cecd39-0bb3-4568-aadc-2c47a6d51773" providerId="ADAL" clId="{104D16F3-0830-409B-B338-B1F24D90F70E}" dt="2026-06-09T18:00:42.942" v="0" actId="1036"/>
          <ac:picMkLst>
            <pc:docMk/>
            <pc:sldMk cId="0" sldId="259"/>
            <ac:picMk id="278" creationId="{00000000-0000-0000-0000-000000000000}"/>
          </ac:picMkLst>
        </pc:picChg>
      </pc:sldChg>
      <pc:sldChg chg="addSp modSp mod">
        <pc:chgData name="Kaique Almeida Justino da Silva" userId="80cecd39-0bb3-4568-aadc-2c47a6d51773" providerId="ADAL" clId="{104D16F3-0830-409B-B338-B1F24D90F70E}" dt="2026-06-09T18:09:01.259" v="16" actId="1037"/>
        <pc:sldMkLst>
          <pc:docMk/>
          <pc:sldMk cId="0" sldId="283"/>
        </pc:sldMkLst>
        <pc:cxnChg chg="add mod">
          <ac:chgData name="Kaique Almeida Justino da Silva" userId="80cecd39-0bb3-4568-aadc-2c47a6d51773" providerId="ADAL" clId="{104D16F3-0830-409B-B338-B1F24D90F70E}" dt="2026-06-09T18:09:01.259" v="16" actId="1037"/>
          <ac:cxnSpMkLst>
            <pc:docMk/>
            <pc:sldMk cId="0" sldId="283"/>
            <ac:cxnSpMk id="3" creationId="{F586C8D3-F46F-3C52-1E8D-DA8A9C1AC0A5}"/>
          </ac:cxnSpMkLst>
        </pc:cxnChg>
      </pc:sldChg>
      <pc:sldChg chg="addSp delSp modSp mod">
        <pc:chgData name="Kaique Almeida Justino da Silva" userId="80cecd39-0bb3-4568-aadc-2c47a6d51773" providerId="ADAL" clId="{104D16F3-0830-409B-B338-B1F24D90F70E}" dt="2026-06-09T18:11:00.730" v="21"/>
        <pc:sldMkLst>
          <pc:docMk/>
          <pc:sldMk cId="0" sldId="286"/>
        </pc:sldMkLst>
        <pc:picChg chg="add">
          <ac:chgData name="Kaique Almeida Justino da Silva" userId="80cecd39-0bb3-4568-aadc-2c47a6d51773" providerId="ADAL" clId="{104D16F3-0830-409B-B338-B1F24D90F70E}" dt="2026-06-09T18:11:00.730" v="21"/>
          <ac:picMkLst>
            <pc:docMk/>
            <pc:sldMk cId="0" sldId="286"/>
            <ac:picMk id="2" creationId="{755E3FC5-1933-1344-FC06-2A1942FA20F3}"/>
          </ac:picMkLst>
        </pc:picChg>
        <pc:picChg chg="del mod">
          <ac:chgData name="Kaique Almeida Justino da Silva" userId="80cecd39-0bb3-4568-aadc-2c47a6d51773" providerId="ADAL" clId="{104D16F3-0830-409B-B338-B1F24D90F70E}" dt="2026-06-09T18:11:00.074" v="19" actId="478"/>
          <ac:picMkLst>
            <pc:docMk/>
            <pc:sldMk cId="0" sldId="286"/>
            <ac:picMk id="46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4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a1651dc2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a1651dc20_0_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ea1651dc20_0_1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48f0ed114_0_6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g3e48f0ed11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a1651dc20_0_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g3ea1651dc2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a1651dc20_1_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g3ea1651dc2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a1651dc20_0_1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g3ea1651dc2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a1651dc20_1_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3ea1651dc20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a1651dc20_0_2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g3ea1651dc2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a1651dc20_1_10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g3ea1651dc20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6eb4f487f_0_16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g396eb4f487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a1651dc20_1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a1651dc20_1_11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3ea1651dc20_1_112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a1651dc20_1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ea1651dc20_1_11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ea1651dc20_1_118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8aba13ad6_0_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g3a8aba13a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a1651dc20_1_12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g3ea1651dc20_1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a1651dc20_1_13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5" name="Google Shape;375;g3ea1651dc20_1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a1651dc20_1_14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g3ea1651dc20_1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a1651dc20_1_15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" name="Google Shape;391;g3ea1651dc20_1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a1651dc20_1_16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8" name="Google Shape;398;g3ea1651dc20_1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a1651dc20_1_17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5" name="Google Shape;405;g3ea1651dc20_1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a1651dc20_1_18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2" name="Google Shape;412;g3ea1651dc20_1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a1651dc20_1_1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9" name="Google Shape;419;g3ea1651dc20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ea1651dc20_1_1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4" name="Google Shape;424;g3ea1651dc20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ea1651dc20_1_8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0" name="Google Shape;430;g3ea1651dc20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ea1651dc20_1_8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g3ea1651dc20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ea1651dc20_1_2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2" name="Google Shape;442;g3ea1651dc20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a1651dc20_1_3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8" name="Google Shape;448;g3ea1651dc20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a1651dc20_1_3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g3ea1651dc20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a1651dc20_1_4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1" name="Google Shape;461;g3ea1651dc20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ea1651dc20_1_5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7" name="Google Shape;467;g3ea1651dc20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ea1651dc20_1_6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3" name="Google Shape;473;g3ea1651dc20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ea1651dc20_1_6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9" name="Google Shape;479;g3ea1651dc20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ea1651dc20_1_7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g3ea1651dc20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96eb4f487f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g396eb4f487f_0_30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2" name="Google Shape;492;g396eb4f487f_0_308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6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5" name="Google Shape;55;p3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63" name="Google Shape;63;p3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9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0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6" name="Google Shape;86;p4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95" name="Google Shape;95;p4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06" name="Google Shape;106;p4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4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8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5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50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1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2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5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53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53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4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4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4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54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3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5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5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5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5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56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56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85" name="Google Shape;185;p56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5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57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5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5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2" name="Google Shape;192;p5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5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5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7" name="Google Shape;197;p5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9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59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9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02" name="Google Shape;202;p59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6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6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6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60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60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10" name="Google Shape;210;p60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6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6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61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6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6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18" name="Google Shape;218;p6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6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6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6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6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6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26" name="Google Shape;226;p6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6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63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6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6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33" name="Google Shape;233;p6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6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64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64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64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6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6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42" name="Google Shape;242;p6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6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65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65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65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65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65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6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6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53" name="Google Shape;253;p6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7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Princípios de Ciência de Dados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2;p27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13;p27" descr="GGFD2166TRA Raw.tif"/>
          <p:cNvPicPr preferRelativeResize="0"/>
          <p:nvPr/>
        </p:nvPicPr>
        <p:blipFill rotWithShape="1">
          <a:blip r:embed="rId15">
            <a:alphaModFix/>
          </a:blip>
          <a:srcRect l="363" t="2153" r="9182" b="11112"/>
          <a:stretch/>
        </p:blipFill>
        <p:spPr>
          <a:xfrm>
            <a:off x="0" y="0"/>
            <a:ext cx="9143640" cy="594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" name="Google Shape;17;p27"/>
          <p:cNvPicPr preferRelativeResize="0"/>
          <p:nvPr/>
        </p:nvPicPr>
        <p:blipFill rotWithShape="1">
          <a:blip r:embed="rId16">
            <a:alphaModFix/>
          </a:blip>
          <a:srcRect l="28611" r="49359"/>
          <a:stretch/>
        </p:blipFill>
        <p:spPr>
          <a:xfrm>
            <a:off x="0" y="5501520"/>
            <a:ext cx="9143640" cy="13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7"/>
          <p:cNvPicPr preferRelativeResize="0"/>
          <p:nvPr/>
        </p:nvPicPr>
        <p:blipFill rotWithShape="1">
          <a:blip r:embed="rId17">
            <a:alphaModFix/>
          </a:blip>
          <a:srcRect l="26029" r="59601"/>
          <a:stretch/>
        </p:blipFill>
        <p:spPr>
          <a:xfrm>
            <a:off x="2949120" y="5807880"/>
            <a:ext cx="11516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7"/>
          <p:cNvPicPr preferRelativeResize="0"/>
          <p:nvPr/>
        </p:nvPicPr>
        <p:blipFill rotWithShape="1">
          <a:blip r:embed="rId17">
            <a:alphaModFix/>
          </a:blip>
          <a:srcRect l="46566"/>
          <a:stretch/>
        </p:blipFill>
        <p:spPr>
          <a:xfrm>
            <a:off x="4966920" y="5727600"/>
            <a:ext cx="42854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7" descr="Logotipo&#10;&#10;Descrição gerada automaticamente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54960" y="6020640"/>
            <a:ext cx="1728000" cy="1088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9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29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2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1"/>
          <p:cNvSpPr/>
          <p:nvPr/>
        </p:nvSpPr>
        <p:spPr>
          <a:xfrm>
            <a:off x="4212000" y="8640"/>
            <a:ext cx="4931640" cy="45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31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3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3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" name="Google Shape;167;p3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7640" y="921960"/>
            <a:ext cx="4385160" cy="27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"/>
          <p:cNvSpPr/>
          <p:nvPr/>
        </p:nvSpPr>
        <p:spPr>
          <a:xfrm>
            <a:off x="265320" y="3861000"/>
            <a:ext cx="8627040" cy="149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Tecnologia em Ciência de Dados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r>
              <a:rPr lang="pt-BR" sz="28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Professor Kaique Almeida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"/>
          <p:cNvSpPr/>
          <p:nvPr/>
        </p:nvSpPr>
        <p:spPr>
          <a:xfrm>
            <a:off x="3960" y="2160"/>
            <a:ext cx="51944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Ementa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8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1" name="Google Shape;27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5480" y="61459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8"/>
          <p:cNvSpPr/>
          <p:nvPr/>
        </p:nvSpPr>
        <p:spPr>
          <a:xfrm>
            <a:off x="-36925" y="598448"/>
            <a:ext cx="9143700" cy="6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285840" marR="0" lvl="0" indent="-27949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1700"/>
              <a:buFont typeface="Noto Sans Symbols"/>
              <a:buChar char="✔"/>
            </a:pPr>
            <a:r>
              <a:rPr lang="pt-BR" sz="17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Apresentação / Introdução a disciplina / Avaliação de Modelos / Regressão Logística / KNN  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(07/04)</a:t>
            </a:r>
            <a:endParaRPr sz="1700" b="1" i="0" u="none" strike="noStrike" cap="none">
              <a:solidFill>
                <a:srgbClr val="A2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A20000"/>
              </a:buClr>
              <a:buSzPts val="1700"/>
              <a:buFont typeface="Noto Sans Symbols"/>
              <a:buChar char="✔"/>
            </a:pPr>
            <a:r>
              <a:rPr lang="pt-BR" sz="17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Árvores de Decisão / Floresta de Decisão / XGBoost / Laboratório para Atividade 1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(14/04)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A20000"/>
              </a:buClr>
              <a:buSzPts val="1700"/>
              <a:buFont typeface="Verdana"/>
              <a:buChar char="✔"/>
            </a:pPr>
            <a:r>
              <a:rPr lang="pt-BR" sz="17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Atividade 1 - Apresentação de Trabalhos / Naive Bayes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(28/04) 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A20000"/>
              </a:buClr>
              <a:buSzPts val="1700"/>
              <a:buFont typeface="Noto Sans Symbols"/>
              <a:buChar char="✔"/>
            </a:pPr>
            <a:r>
              <a:rPr lang="pt-BR" sz="17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K Means / DBSCAN / PCA / T-SNE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(05/05)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A20000"/>
              </a:buClr>
              <a:buSzPts val="1700"/>
              <a:buFont typeface="Verdana"/>
              <a:buChar char="✔"/>
            </a:pPr>
            <a:r>
              <a:rPr lang="pt-BR" sz="17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 / Correção da P1 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(12/05)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Verdana"/>
              <a:buChar char="✔"/>
            </a:pPr>
            <a:r>
              <a:rPr lang="pt-BR" sz="1700" b="0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Resolução da P1  / Lista de reforço</a:t>
            </a:r>
            <a:r>
              <a:rPr lang="pt-BR" sz="17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(19/05)</a:t>
            </a:r>
            <a:endParaRPr sz="1700" b="1" i="0" u="none" strike="noStrike" cap="non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A20000"/>
              </a:buClr>
              <a:buSzPts val="1700"/>
              <a:buFont typeface="Verdana"/>
              <a:buChar char="✔"/>
            </a:pPr>
            <a:r>
              <a:rPr lang="pt-BR" sz="17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SVMs / Redes Neurais Feed Forward / Lista 1 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(26/05) 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980000"/>
              </a:buClr>
              <a:buSzPts val="1700"/>
              <a:buFont typeface="Verdana"/>
              <a:buChar char="✔"/>
            </a:pPr>
            <a:r>
              <a:rPr lang="pt-BR" sz="1700" b="0" i="0" u="none" strike="noStrike" cap="none">
                <a:solidFill>
                  <a:srgbClr val="980000"/>
                </a:solidFill>
                <a:latin typeface="Verdana"/>
                <a:ea typeface="Verdana"/>
                <a:cs typeface="Verdana"/>
                <a:sym typeface="Verdana"/>
              </a:rPr>
              <a:t>CNNs / GANs </a:t>
            </a:r>
            <a:r>
              <a:rPr lang="pt-BR" sz="1700" b="1" i="0" u="none" strike="noStrike" cap="none">
                <a:solidFill>
                  <a:srgbClr val="980000"/>
                </a:solidFill>
                <a:latin typeface="Verdana"/>
                <a:ea typeface="Verdana"/>
                <a:cs typeface="Verdana"/>
                <a:sym typeface="Verdana"/>
              </a:rPr>
              <a:t>(02/06)</a:t>
            </a:r>
            <a:endParaRPr sz="1700" b="1" i="0" u="none" strike="noStrike" cap="none">
              <a:solidFill>
                <a:srgbClr val="98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Verdana"/>
              <a:buChar char="✔"/>
            </a:pPr>
            <a:r>
              <a:rPr lang="pt-BR"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Redes Neurais Recorrentes /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AE </a:t>
            </a:r>
            <a:r>
              <a:rPr lang="pt-BR"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/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Redes de Kohonen / </a:t>
            </a:r>
            <a:r>
              <a:rPr lang="pt-BR"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Atividade 2  / Lista 2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(09/06)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Verdana"/>
              <a:buChar char="✔"/>
            </a:pPr>
            <a:r>
              <a:rPr lang="pt-BR"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P2 / Correção de P2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 (16/06) 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Verdana"/>
              <a:buChar char="✔"/>
            </a:pPr>
            <a:r>
              <a:rPr lang="pt-BR"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Resolução da P2 </a:t>
            </a:r>
            <a:r>
              <a:rPr lang="pt-BR" sz="17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(23/06)</a:t>
            </a:r>
            <a:endParaRPr sz="17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g3ea1651dc20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129" y="-306556"/>
            <a:ext cx="620934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ea1651dc20_0_1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Mapa Mental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48f0ed114_0_69"/>
          <p:cNvSpPr/>
          <p:nvPr/>
        </p:nvSpPr>
        <p:spPr>
          <a:xfrm>
            <a:off x="258445" y="13423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RNNs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RNNs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6"/>
          <p:cNvSpPr txBox="1"/>
          <p:nvPr/>
        </p:nvSpPr>
        <p:spPr>
          <a:xfrm>
            <a:off x="271800" y="657305"/>
            <a:ext cx="8872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Arquitetura de rede neural utilizada para processar dados sequenciais</a:t>
            </a: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Ordem temporal e posicional é importante</a:t>
            </a: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Possuem memória interna, permitindo que informações de etapas anteriores tenham influência nas etapas seguintes.</a:t>
            </a: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Muito utilizada em processamento de texto e previsão em séries temporais</a:t>
            </a: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438" y="3321955"/>
            <a:ext cx="5927119" cy="2732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a1651dc20_0_7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RNNs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g3ea1651dc20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850" y="1306150"/>
            <a:ext cx="4434276" cy="4989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g3ea1651dc20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450" y="1888498"/>
            <a:ext cx="4369774" cy="291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a1651dc20_1_0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RNNs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ea1651dc20_1_0"/>
          <p:cNvSpPr txBox="1"/>
          <p:nvPr/>
        </p:nvSpPr>
        <p:spPr>
          <a:xfrm>
            <a:off x="218025" y="542327"/>
            <a:ext cx="88722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Profundidade temporal </a:t>
            </a: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Profundidade espacial</a:t>
            </a: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Backpropagation Through Time (BPTT) </a:t>
            </a: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g3ea1651dc20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025" y="1549908"/>
            <a:ext cx="8839201" cy="356502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ea1651dc20_1_0"/>
          <p:cNvSpPr/>
          <p:nvPr/>
        </p:nvSpPr>
        <p:spPr>
          <a:xfrm>
            <a:off x="426975" y="4187725"/>
            <a:ext cx="714300" cy="147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ea1651dc20_1_0"/>
          <p:cNvSpPr txBox="1"/>
          <p:nvPr/>
        </p:nvSpPr>
        <p:spPr>
          <a:xfrm>
            <a:off x="1092075" y="5288000"/>
            <a:ext cx="4729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 = Passos temporais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 = Número de camadas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 = Número de neurônios por camada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a1651dc20_0_14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RNNs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g3ea1651dc20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00" y="1395734"/>
            <a:ext cx="6578550" cy="303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3ea1651dc20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575" y="4067585"/>
            <a:ext cx="4618501" cy="9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a1651dc20_1_7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RNNs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g3ea1651dc20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25" y="723635"/>
            <a:ext cx="8839199" cy="364821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ea1651dc20_1_7"/>
          <p:cNvSpPr txBox="1"/>
          <p:nvPr/>
        </p:nvSpPr>
        <p:spPr>
          <a:xfrm>
            <a:off x="464700" y="4269825"/>
            <a:ext cx="4729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/>
              <a:t>Fonte:https://machinelearningmastery.com/wp-content/uploads/2018/11/Sliding-Window-Approach-to-Modeling-Time-Series.png</a:t>
            </a:r>
            <a:endParaRPr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a1651dc20_0_20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RNNs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g3ea1651dc20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200" y="852487"/>
            <a:ext cx="6136693" cy="316841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ea1651dc20_0_20"/>
          <p:cNvSpPr txBox="1"/>
          <p:nvPr/>
        </p:nvSpPr>
        <p:spPr>
          <a:xfrm>
            <a:off x="464700" y="509100"/>
            <a:ext cx="4729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LSTM</a:t>
            </a:r>
            <a:endParaRPr sz="1800"/>
          </a:p>
        </p:txBody>
      </p:sp>
      <p:pic>
        <p:nvPicPr>
          <p:cNvPr id="329" name="Google Shape;329;g3ea1651dc20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4225" y="4285725"/>
            <a:ext cx="4355550" cy="216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a1651dc20_1_104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RNNs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g3ea1651dc20_1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900" y="1347710"/>
            <a:ext cx="8639175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ea1651dc20_1_104"/>
          <p:cNvSpPr txBox="1"/>
          <p:nvPr/>
        </p:nvSpPr>
        <p:spPr>
          <a:xfrm>
            <a:off x="464700" y="736825"/>
            <a:ext cx="4729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Previsão com LSTMs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96eb4f487f_0_168"/>
          <p:cNvSpPr/>
          <p:nvPr/>
        </p:nvSpPr>
        <p:spPr>
          <a:xfrm>
            <a:off x="258445" y="13423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Auto Encoders</a:t>
            </a:r>
            <a:endParaRPr sz="32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endParaRPr sz="32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g3ea1651dc20_1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129" y="-315700"/>
            <a:ext cx="620934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ea1651dc20_1_11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Mapa Mental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a1651dc20_1_118"/>
          <p:cNvSpPr txBox="1"/>
          <p:nvPr/>
        </p:nvSpPr>
        <p:spPr>
          <a:xfrm>
            <a:off x="271800" y="657305"/>
            <a:ext cx="88722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Redes neurais que aprendem a representação compacta dos dados de entrada</a:t>
            </a: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O objetivo é reconstruir um sinal de entrada, através de um processo de compactação e descompactação</a:t>
            </a: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Muito utilizada em detecção de anomalias, remoção de ruídos e redução de dimensionalidade.</a:t>
            </a: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ea1651dc20_1_11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Auto Encoders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8aba13ad6_0_0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Auto Encoders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g3a8aba13ad6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740060"/>
            <a:ext cx="8839201" cy="4833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a1651dc20_1_125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Auto Encoders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ea1651dc20_1_125"/>
          <p:cNvSpPr txBox="1"/>
          <p:nvPr/>
        </p:nvSpPr>
        <p:spPr>
          <a:xfrm>
            <a:off x="271800" y="702276"/>
            <a:ext cx="88722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O encoder transforma os dados originais em uma representação mais compacta: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g3ea1651dc20_1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1175" y="1640938"/>
            <a:ext cx="1285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g3ea1651dc20_1_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5500" y="2336201"/>
            <a:ext cx="14859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g3ea1651dc20_1_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1780" y="4841616"/>
            <a:ext cx="113347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ea1651dc20_1_125"/>
          <p:cNvSpPr/>
          <p:nvPr/>
        </p:nvSpPr>
        <p:spPr>
          <a:xfrm>
            <a:off x="3924968" y="4973948"/>
            <a:ext cx="394200" cy="172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2" name="Google Shape;372;g3ea1651dc20_1_1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48680" y="4813527"/>
            <a:ext cx="93345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a1651dc20_1_13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Auto Encoders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ea1651dc20_1_136"/>
          <p:cNvSpPr txBox="1"/>
          <p:nvPr/>
        </p:nvSpPr>
        <p:spPr>
          <a:xfrm>
            <a:off x="271800" y="702276"/>
            <a:ext cx="88722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O decoder faz o inverso: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g3ea1651dc20_1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1713" y="1601941"/>
            <a:ext cx="113347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g3ea1651dc20_1_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7693" y="2254101"/>
            <a:ext cx="1628775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a1651dc20_1_14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Auto Encoders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g3ea1651dc20_1_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313" y="813960"/>
            <a:ext cx="5667375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g3ea1651dc20_1_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49385"/>
            <a:ext cx="8839198" cy="3237367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ea1651dc20_1_148"/>
          <p:cNvSpPr txBox="1"/>
          <p:nvPr/>
        </p:nvSpPr>
        <p:spPr>
          <a:xfrm>
            <a:off x="464700" y="2627575"/>
            <a:ext cx="4729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Reconstrução do Sinal de Treinamento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a1651dc20_1_15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Auto Encoders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ea1651dc20_1_158"/>
          <p:cNvSpPr txBox="1"/>
          <p:nvPr/>
        </p:nvSpPr>
        <p:spPr>
          <a:xfrm>
            <a:off x="448275" y="497259"/>
            <a:ext cx="607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Reconstrução do Sinal Normal em velocidade mais alta</a:t>
            </a:r>
            <a:endParaRPr sz="1800"/>
          </a:p>
        </p:txBody>
      </p:sp>
      <p:pic>
        <p:nvPicPr>
          <p:cNvPr id="395" name="Google Shape;395;g3ea1651dc20_1_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8959"/>
            <a:ext cx="8839199" cy="3124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ea1651dc20_1_167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Auto Encoders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ea1651dc20_1_167"/>
          <p:cNvSpPr txBox="1"/>
          <p:nvPr/>
        </p:nvSpPr>
        <p:spPr>
          <a:xfrm>
            <a:off x="448275" y="497259"/>
            <a:ext cx="607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Reconstrução do Sinal Normal em velocidade mais alta</a:t>
            </a:r>
            <a:endParaRPr sz="1800"/>
          </a:p>
        </p:txBody>
      </p:sp>
      <p:pic>
        <p:nvPicPr>
          <p:cNvPr id="402" name="Google Shape;402;g3ea1651dc20_1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8959"/>
            <a:ext cx="8839199" cy="3124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a1651dc20_1_17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Auto Encoders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ea1651dc20_1_173"/>
          <p:cNvSpPr txBox="1"/>
          <p:nvPr/>
        </p:nvSpPr>
        <p:spPr>
          <a:xfrm>
            <a:off x="448275" y="497259"/>
            <a:ext cx="607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Reconstrução do Sinal de Falha de baixa severidade</a:t>
            </a:r>
            <a:endParaRPr sz="1800"/>
          </a:p>
        </p:txBody>
      </p:sp>
      <p:pic>
        <p:nvPicPr>
          <p:cNvPr id="409" name="Google Shape;409;g3ea1651dc20_1_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1359"/>
            <a:ext cx="8839199" cy="3117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a1651dc20_1_180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Auto Encoders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ea1651dc20_1_180"/>
          <p:cNvSpPr txBox="1"/>
          <p:nvPr/>
        </p:nvSpPr>
        <p:spPr>
          <a:xfrm>
            <a:off x="448275" y="497259"/>
            <a:ext cx="607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Reconstrução do Sinal de Falha de maior severidade</a:t>
            </a:r>
            <a:endParaRPr sz="1800"/>
          </a:p>
        </p:txBody>
      </p:sp>
      <p:pic>
        <p:nvPicPr>
          <p:cNvPr id="416" name="Google Shape;416;g3ea1651dc20_1_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1359"/>
            <a:ext cx="8839198" cy="3235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a1651dc20_1_12"/>
          <p:cNvSpPr/>
          <p:nvPr/>
        </p:nvSpPr>
        <p:spPr>
          <a:xfrm>
            <a:off x="258445" y="13423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de Kohonen</a:t>
            </a:r>
            <a:endParaRPr sz="32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endParaRPr sz="3200" b="1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a1651dc20_1_1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de Kohonen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g3ea1651dc20_1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129" y="-468825"/>
            <a:ext cx="6209346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a1651dc20_1_8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de Kohonen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g3ea1651dc20_1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100" y="587660"/>
            <a:ext cx="6054672" cy="5965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ea1651dc20_1_80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de Kohonen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ea1651dc20_1_80"/>
          <p:cNvSpPr txBox="1"/>
          <p:nvPr/>
        </p:nvSpPr>
        <p:spPr>
          <a:xfrm>
            <a:off x="271800" y="1095552"/>
            <a:ext cx="8872200" cy="27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●"/>
            </a:pPr>
            <a:r>
              <a:rPr lang="pt-BR" sz="1900">
                <a:solidFill>
                  <a:srgbClr val="13404F"/>
                </a:solidFill>
              </a:rPr>
              <a:t>Inspiração Biológica </a:t>
            </a:r>
            <a:r>
              <a:rPr lang="pt-BR" sz="1900">
                <a:solidFill>
                  <a:srgbClr val="1A2A33"/>
                </a:solidFill>
              </a:rPr>
              <a:t>—  regiões do cérebro apresentam organização espacial (mapa topográfico)</a:t>
            </a:r>
            <a:endParaRPr sz="1900">
              <a:solidFill>
                <a:srgbClr val="1A2A33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900">
                <a:solidFill>
                  <a:srgbClr val="13404F"/>
                </a:solidFill>
              </a:rPr>
              <a:t>Objetivo:</a:t>
            </a:r>
            <a:r>
              <a:rPr lang="pt-BR" sz="1900">
                <a:solidFill>
                  <a:srgbClr val="1A2A33"/>
                </a:solidFill>
              </a:rPr>
              <a:t> </a:t>
            </a:r>
            <a:r>
              <a:rPr lang="pt-BR" sz="2000">
                <a:solidFill>
                  <a:srgbClr val="1A2A33"/>
                </a:solidFill>
              </a:rPr>
              <a:t>organizar dados semelhantes em regiões vizinhas</a:t>
            </a:r>
            <a:endParaRPr sz="2000">
              <a:solidFill>
                <a:srgbClr val="1A2A33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a1651dc20_1_2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de Kohonen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5" name="Google Shape;445;g3ea1651dc20_1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00" y="563928"/>
            <a:ext cx="8633198" cy="57034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F586C8D3-F46F-3C52-1E8D-DA8A9C1AC0A5}"/>
              </a:ext>
            </a:extLst>
          </p:cNvPr>
          <p:cNvCxnSpPr>
            <a:cxnSpLocks/>
          </p:cNvCxnSpPr>
          <p:nvPr/>
        </p:nvCxnSpPr>
        <p:spPr>
          <a:xfrm flipH="1">
            <a:off x="3410331" y="2628900"/>
            <a:ext cx="2289175" cy="2284222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a1651dc20_1_3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de Kohonen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1" name="Google Shape;451;g3ea1651dc20_1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40060"/>
            <a:ext cx="8839198" cy="5390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ea1651dc20_1_3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de Kohonen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g3ea1651dc20_1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5385"/>
            <a:ext cx="8839199" cy="3221876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g3ea1651dc20_1_38"/>
          <p:cNvSpPr txBox="1"/>
          <p:nvPr/>
        </p:nvSpPr>
        <p:spPr>
          <a:xfrm>
            <a:off x="152400" y="755663"/>
            <a:ext cx="630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Função Objetivo</a:t>
            </a:r>
            <a:endParaRPr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a1651dc20_1_4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de Kohonen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55E3FC5-1933-1344-FC06-2A1942FA2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186" y="1052322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a1651dc20_1_5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de Kohonen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0" name="Google Shape;470;g3ea1651dc20_1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40060"/>
            <a:ext cx="8839198" cy="47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a1651dc20_1_6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de Kohonen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g3ea1651dc20_1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7260"/>
            <a:ext cx="8839199" cy="327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a1651dc20_1_6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de Kohonen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2" name="Google Shape;482;g3ea1651dc20_1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025" y="1232260"/>
            <a:ext cx="8839200" cy="3900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ea1651dc20_1_74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Redes de Kohonen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8" name="Google Shape;488;g3ea1651dc20_1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40060"/>
            <a:ext cx="8839199" cy="4351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96eb4f487f_0_308"/>
          <p:cNvSpPr/>
          <p:nvPr/>
        </p:nvSpPr>
        <p:spPr>
          <a:xfrm>
            <a:off x="2060710" y="3130035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FIM 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Microsoft Office PowerPoint</Application>
  <PresentationFormat>Apresentação na tela (4:3)</PresentationFormat>
  <Paragraphs>103</Paragraphs>
  <Slides>36</Slides>
  <Notes>36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36</vt:i4>
      </vt:variant>
    </vt:vector>
  </HeadingPairs>
  <TitlesOfParts>
    <vt:vector size="44" baseType="lpstr">
      <vt:lpstr>Arial</vt:lpstr>
      <vt:lpstr>Calibri</vt:lpstr>
      <vt:lpstr>Noto Sans Symbols</vt:lpstr>
      <vt:lpstr>Times New Roman</vt:lpstr>
      <vt:lpstr>Verdana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Victor Akio Zukeran</dc:creator>
  <cp:lastModifiedBy>Kaique Almeida Justino da Silva</cp:lastModifiedBy>
  <cp:revision>1</cp:revision>
  <dcterms:created xsi:type="dcterms:W3CDTF">2013-10-10T17:31:52Z</dcterms:created>
  <dcterms:modified xsi:type="dcterms:W3CDTF">2026-06-09T18:11:08Z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0x01010073806014F133DA42B05483D3695C6CCB</vt:lpwstr>
  </property>
  <property fmtid="{D5CDD505-2E9C-101B-9397-08002B2CF9AE}" pid="3" name="HiddenSlides">
    <vt:i4>1</vt:i4>
  </property>
  <property fmtid="{D5CDD505-2E9C-101B-9397-08002B2CF9AE}" pid="4" name="Notes">
    <vt:i4>1</vt:i4>
  </property>
  <property fmtid="{D5CDD505-2E9C-101B-9397-08002B2CF9AE}" pid="5" name="PresentationFormat">
    <vt:lpwstr>Apresentação na tela (4:3)</vt:lpwstr>
  </property>
  <property fmtid="{D5CDD505-2E9C-101B-9397-08002B2CF9AE}" pid="6" name="Slides">
    <vt:i4>27</vt:i4>
  </property>
</Properties>
</file>