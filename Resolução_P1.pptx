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iFn8lWv6hgTM7eOd6S2HpmBlCm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4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6eb4f487f_0_16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g396eb4f487f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</a:t>
            </a:r>
            <a:endParaRPr/>
          </a:p>
        </p:txBody>
      </p:sp>
      <p:sp>
        <p:nvSpPr>
          <p:cNvPr id="179" name="Google Shape;1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87f39fe4b_0_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a87f39fe4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87f39fe4b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a87f39fe4b_0_10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g3a87f39fe4b_0_102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87f39fe4b_0_9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</a:t>
            </a:r>
            <a:endParaRPr/>
          </a:p>
        </p:txBody>
      </p:sp>
      <p:sp>
        <p:nvSpPr>
          <p:cNvPr id="215" name="Google Shape;215;g3a87f39fe4b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3389aa854_0_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D</a:t>
            </a:r>
            <a:endParaRPr/>
          </a:p>
        </p:txBody>
      </p:sp>
      <p:sp>
        <p:nvSpPr>
          <p:cNvPr id="221" name="Google Shape;221;g3e3389aa85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3389aa854_0_1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g3e3389aa85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87f39fe4b_0_16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</a:t>
            </a:r>
            <a:endParaRPr/>
          </a:p>
        </p:txBody>
      </p:sp>
      <p:sp>
        <p:nvSpPr>
          <p:cNvPr id="233" name="Google Shape;233;g3a87f39fe4b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87f39fe4b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g3a87f39fe4b_0_17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g3a87f39fe4b_0_173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87f39fe4b_0_16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	D</a:t>
            </a:r>
            <a:endParaRPr dirty="0"/>
          </a:p>
        </p:txBody>
      </p:sp>
      <p:sp>
        <p:nvSpPr>
          <p:cNvPr id="247" name="Google Shape;247;g3a87f39fe4b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87f39fe4b_0_23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</a:t>
            </a:r>
            <a:endParaRPr/>
          </a:p>
        </p:txBody>
      </p:sp>
      <p:sp>
        <p:nvSpPr>
          <p:cNvPr id="253" name="Google Shape;253;g3a87f39fe4b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87f39fe4b_0_23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</a:t>
            </a:r>
            <a:endParaRPr/>
          </a:p>
        </p:txBody>
      </p:sp>
      <p:sp>
        <p:nvSpPr>
          <p:cNvPr id="259" name="Google Shape;259;g3a87f39fe4b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87f39fe4b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g3a87f39fe4b_0_24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a87f39fe4b_0_244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87f39fe4b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g3a87f39fe4b_0_30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g3a87f39fe4b_0_301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87f39fe4b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g3a87f39fe4b_0_31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g3a87f39fe4b_0_312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87f39fe4b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g3a87f39fe4b_0_32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g3a87f39fe4b_0_325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87f39fe4b_0_38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</a:t>
            </a:r>
            <a:endParaRPr/>
          </a:p>
        </p:txBody>
      </p:sp>
      <p:sp>
        <p:nvSpPr>
          <p:cNvPr id="305" name="Google Shape;305;g3a87f39fe4b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87f39fe4b_0_38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</a:t>
            </a:r>
            <a:endParaRPr/>
          </a:p>
        </p:txBody>
      </p:sp>
      <p:sp>
        <p:nvSpPr>
          <p:cNvPr id="311" name="Google Shape;311;g3a87f39fe4b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87f39fe4b_0_39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</a:t>
            </a:r>
            <a:endParaRPr/>
          </a:p>
        </p:txBody>
      </p:sp>
      <p:sp>
        <p:nvSpPr>
          <p:cNvPr id="317" name="Google Shape;317;g3a87f39fe4b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87f39fe4b_0_40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</a:t>
            </a:r>
            <a:endParaRPr/>
          </a:p>
        </p:txBody>
      </p:sp>
      <p:sp>
        <p:nvSpPr>
          <p:cNvPr id="324" name="Google Shape;324;g3a87f39fe4b_0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87f39fe4b_0_41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D</a:t>
            </a:r>
            <a:endParaRPr dirty="0"/>
          </a:p>
        </p:txBody>
      </p:sp>
      <p:sp>
        <p:nvSpPr>
          <p:cNvPr id="330" name="Google Shape;330;g3a87f39fe4b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87f39fe4b_0_48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</a:t>
            </a:r>
            <a:endParaRPr/>
          </a:p>
        </p:txBody>
      </p:sp>
      <p:sp>
        <p:nvSpPr>
          <p:cNvPr id="336" name="Google Shape;336;g3a87f39fe4b_0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87f39fe4b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g3a87f39fe4b_0_42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g3a87f39fe4b_0_427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87f39fe4b_0_42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</a:t>
            </a:r>
            <a:endParaRPr/>
          </a:p>
        </p:txBody>
      </p:sp>
      <p:sp>
        <p:nvSpPr>
          <p:cNvPr id="349" name="Google Shape;349;g3a87f39fe4b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87f39fe4b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6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g3a87f39fe4b_0_49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" name="Google Shape;356;g3a87f39fe4b_0_490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6eb4f487f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4" name="Google Shape;364;g396eb4f487f_0_30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5" name="Google Shape;365;g396eb4f487f_0_308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6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0" name="Google Shape;50;p36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7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5" name="Google Shape;55;p3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63" name="Google Shape;63;p3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9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9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0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86" name="Google Shape;86;p4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2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95" name="Google Shape;95;p4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3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3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3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3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3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06" name="Google Shape;106;p4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4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8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9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5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50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1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2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5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53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53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5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4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4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4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54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7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Princípios de Ciência de Dados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2;p27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13;p27" descr="GGFD2166TRA Raw.tif"/>
          <p:cNvPicPr preferRelativeResize="0"/>
          <p:nvPr/>
        </p:nvPicPr>
        <p:blipFill rotWithShape="1">
          <a:blip r:embed="rId15">
            <a:alphaModFix/>
          </a:blip>
          <a:srcRect l="363" t="2153" r="9182" b="11112"/>
          <a:stretch/>
        </p:blipFill>
        <p:spPr>
          <a:xfrm>
            <a:off x="0" y="0"/>
            <a:ext cx="9143640" cy="594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" name="Google Shape;17;p27"/>
          <p:cNvPicPr preferRelativeResize="0"/>
          <p:nvPr/>
        </p:nvPicPr>
        <p:blipFill rotWithShape="1">
          <a:blip r:embed="rId16">
            <a:alphaModFix/>
          </a:blip>
          <a:srcRect l="28611" r="49359"/>
          <a:stretch/>
        </p:blipFill>
        <p:spPr>
          <a:xfrm>
            <a:off x="0" y="5501520"/>
            <a:ext cx="9143640" cy="13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7"/>
          <p:cNvPicPr preferRelativeResize="0"/>
          <p:nvPr/>
        </p:nvPicPr>
        <p:blipFill rotWithShape="1">
          <a:blip r:embed="rId17">
            <a:alphaModFix/>
          </a:blip>
          <a:srcRect l="26029" r="59601"/>
          <a:stretch/>
        </p:blipFill>
        <p:spPr>
          <a:xfrm>
            <a:off x="2949120" y="5807880"/>
            <a:ext cx="11516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7"/>
          <p:cNvPicPr preferRelativeResize="0"/>
          <p:nvPr/>
        </p:nvPicPr>
        <p:blipFill rotWithShape="1">
          <a:blip r:embed="rId17">
            <a:alphaModFix/>
          </a:blip>
          <a:srcRect l="46566"/>
          <a:stretch/>
        </p:blipFill>
        <p:spPr>
          <a:xfrm>
            <a:off x="4966920" y="5727600"/>
            <a:ext cx="42854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7" descr="Logotipo&#10;&#10;Descrição gerada automaticamente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54960" y="6020640"/>
            <a:ext cx="1728000" cy="1088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9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29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2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7640" y="921960"/>
            <a:ext cx="4385160" cy="27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"/>
          <p:cNvSpPr/>
          <p:nvPr/>
        </p:nvSpPr>
        <p:spPr>
          <a:xfrm>
            <a:off x="265320" y="3861000"/>
            <a:ext cx="8627040" cy="149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Tecnologia em Ciência de Dados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r>
              <a:rPr lang="pt-BR" sz="28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Professor Kaique Almeida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6eb4f487f_0_168"/>
          <p:cNvSpPr/>
          <p:nvPr/>
        </p:nvSpPr>
        <p:spPr>
          <a:xfrm>
            <a:off x="258445" y="13423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Resolução da P1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5535"/>
            <a:ext cx="8839201" cy="25371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3E3D109D-8CCD-750B-E737-E6A5379F08FB}"/>
              </a:ext>
            </a:extLst>
          </p:cNvPr>
          <p:cNvCxnSpPr/>
          <p:nvPr/>
        </p:nvCxnSpPr>
        <p:spPr>
          <a:xfrm>
            <a:off x="152399" y="3126659"/>
            <a:ext cx="408039" cy="78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87f39fe4b_0_1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Avaliação de Modelos Preditivos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a87f39fe4b_0_1"/>
          <p:cNvSpPr/>
          <p:nvPr/>
        </p:nvSpPr>
        <p:spPr>
          <a:xfrm>
            <a:off x="5186160" y="1890984"/>
            <a:ext cx="287700" cy="1257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a87f39fe4b_0_1"/>
          <p:cNvSpPr/>
          <p:nvPr/>
        </p:nvSpPr>
        <p:spPr>
          <a:xfrm>
            <a:off x="1" y="552900"/>
            <a:ext cx="78414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FF9900"/>
                </a:solidFill>
                <a:latin typeface="Verdana"/>
                <a:ea typeface="Verdana"/>
                <a:cs typeface="Verdana"/>
                <a:sym typeface="Verdana"/>
              </a:rPr>
              <a:t>Avaliação de Modelos de Classificação - Métricas</a:t>
            </a:r>
            <a:endParaRPr sz="2000" b="0" i="0" u="none" strike="noStrike" cap="non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a87f39fe4b_0_1"/>
          <p:cNvSpPr txBox="1"/>
          <p:nvPr/>
        </p:nvSpPr>
        <p:spPr>
          <a:xfrm>
            <a:off x="182075" y="2234321"/>
            <a:ext cx="113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Acurácia</a:t>
            </a:r>
            <a:endParaRPr/>
          </a:p>
        </p:txBody>
      </p:sp>
      <p:sp>
        <p:nvSpPr>
          <p:cNvPr id="191" name="Google Shape;191;g3a87f39fe4b_0_1"/>
          <p:cNvSpPr txBox="1"/>
          <p:nvPr/>
        </p:nvSpPr>
        <p:spPr>
          <a:xfrm>
            <a:off x="4003820" y="3005063"/>
            <a:ext cx="2496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Porcentagem de acertos positivos / Confiabilidade</a:t>
            </a:r>
            <a:endParaRPr/>
          </a:p>
        </p:txBody>
      </p:sp>
      <p:pic>
        <p:nvPicPr>
          <p:cNvPr id="192" name="Google Shape;192;g3a87f39fe4b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000" y="3117781"/>
            <a:ext cx="227647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a87f39fe4b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0988" y="2060358"/>
            <a:ext cx="2276475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a87f39fe4b_0_1"/>
          <p:cNvSpPr txBox="1"/>
          <p:nvPr/>
        </p:nvSpPr>
        <p:spPr>
          <a:xfrm>
            <a:off x="3960470" y="2112379"/>
            <a:ext cx="2496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Porcentagem de acertos</a:t>
            </a:r>
            <a:endParaRPr/>
          </a:p>
        </p:txBody>
      </p:sp>
      <p:sp>
        <p:nvSpPr>
          <p:cNvPr id="195" name="Google Shape;195;g3a87f39fe4b_0_1"/>
          <p:cNvSpPr txBox="1"/>
          <p:nvPr/>
        </p:nvSpPr>
        <p:spPr>
          <a:xfrm>
            <a:off x="6326200" y="2095721"/>
            <a:ext cx="2496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A20000"/>
                </a:solidFill>
              </a:rPr>
              <a:t>Dataset desbalanceado</a:t>
            </a:r>
            <a:endParaRPr b="1">
              <a:solidFill>
                <a:srgbClr val="A20000"/>
              </a:solidFill>
            </a:endParaRPr>
          </a:p>
        </p:txBody>
      </p:sp>
      <p:pic>
        <p:nvPicPr>
          <p:cNvPr id="196" name="Google Shape;196;g3a87f39fe4b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1000" y="4183846"/>
            <a:ext cx="227647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a87f39fe4b_0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31000" y="5241241"/>
            <a:ext cx="2276475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a87f39fe4b_0_1"/>
          <p:cNvSpPr txBox="1"/>
          <p:nvPr/>
        </p:nvSpPr>
        <p:spPr>
          <a:xfrm>
            <a:off x="239100" y="3273721"/>
            <a:ext cx="113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Precisão</a:t>
            </a:r>
            <a:endParaRPr/>
          </a:p>
        </p:txBody>
      </p:sp>
      <p:sp>
        <p:nvSpPr>
          <p:cNvPr id="199" name="Google Shape;199;g3a87f39fe4b_0_1"/>
          <p:cNvSpPr txBox="1"/>
          <p:nvPr/>
        </p:nvSpPr>
        <p:spPr>
          <a:xfrm>
            <a:off x="298800" y="4353471"/>
            <a:ext cx="113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Recall</a:t>
            </a:r>
            <a:endParaRPr/>
          </a:p>
        </p:txBody>
      </p:sp>
      <p:sp>
        <p:nvSpPr>
          <p:cNvPr id="200" name="Google Shape;200;g3a87f39fe4b_0_1"/>
          <p:cNvSpPr txBox="1"/>
          <p:nvPr/>
        </p:nvSpPr>
        <p:spPr>
          <a:xfrm>
            <a:off x="3974144" y="4053798"/>
            <a:ext cx="24963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Porcentagem de positivos que o modelo encontra / Sensibilidade</a:t>
            </a:r>
            <a:endParaRPr/>
          </a:p>
        </p:txBody>
      </p:sp>
      <p:sp>
        <p:nvSpPr>
          <p:cNvPr id="201" name="Google Shape;201;g3a87f39fe4b_0_1"/>
          <p:cNvSpPr txBox="1"/>
          <p:nvPr/>
        </p:nvSpPr>
        <p:spPr>
          <a:xfrm>
            <a:off x="455375" y="5415213"/>
            <a:ext cx="58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F1</a:t>
            </a:r>
            <a:endParaRPr/>
          </a:p>
        </p:txBody>
      </p:sp>
      <p:sp>
        <p:nvSpPr>
          <p:cNvPr id="202" name="Google Shape;202;g3a87f39fe4b_0_1"/>
          <p:cNvSpPr txBox="1"/>
          <p:nvPr/>
        </p:nvSpPr>
        <p:spPr>
          <a:xfrm>
            <a:off x="3974144" y="5379723"/>
            <a:ext cx="2496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Combinação de Precision e Recall</a:t>
            </a:r>
            <a:endParaRPr/>
          </a:p>
        </p:txBody>
      </p:sp>
      <p:pic>
        <p:nvPicPr>
          <p:cNvPr id="203" name="Google Shape;203;g3a87f39fe4b_0_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56637" y="1119325"/>
            <a:ext cx="1235425" cy="92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87f39fe4b_0_10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Naive Byes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a87f39fe4b_0_102"/>
          <p:cNvSpPr/>
          <p:nvPr/>
        </p:nvSpPr>
        <p:spPr>
          <a:xfrm>
            <a:off x="547100" y="4612981"/>
            <a:ext cx="8229300" cy="16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17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Char char="•"/>
            </a:pPr>
            <a:r>
              <a:rPr lang="pt-BR" sz="2000">
                <a:latin typeface="Verdana"/>
                <a:ea typeface="Verdana"/>
                <a:cs typeface="Verdana"/>
                <a:sym typeface="Verdana"/>
              </a:rPr>
              <a:t>Alto recall:modelo detecta praticamente todos os ataques. Alta sensibilidade.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17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Char char="•"/>
            </a:pPr>
            <a:r>
              <a:rPr lang="pt-BR" sz="2000">
                <a:latin typeface="Verdana"/>
                <a:ea typeface="Verdana"/>
                <a:cs typeface="Verdana"/>
                <a:sym typeface="Verdana"/>
              </a:rPr>
              <a:t>Baixa precisão: Metade dos alertas são falsos. Baixa confiabilidade.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1" name="Google Shape;211;g3a87f39fe4b_0_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088" y="3168256"/>
            <a:ext cx="724852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a87f39fe4b_0_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900" y="1109460"/>
            <a:ext cx="8267700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7f39fe4b_0_95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g3a87f39fe4b_0_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40060"/>
            <a:ext cx="8324850" cy="44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3389aa854_0_2"/>
          <p:cNvSpPr/>
          <p:nvPr/>
        </p:nvSpPr>
        <p:spPr>
          <a:xfrm>
            <a:off x="89659" y="59842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g3e3389aa854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8842"/>
            <a:ext cx="8839200" cy="36600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376088CB-CFDD-216F-7BC2-116DBDD6FA00}"/>
              </a:ext>
            </a:extLst>
          </p:cNvPr>
          <p:cNvCxnSpPr/>
          <p:nvPr/>
        </p:nvCxnSpPr>
        <p:spPr>
          <a:xfrm>
            <a:off x="-68826" y="3097161"/>
            <a:ext cx="481781" cy="137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3389aa854_0_1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g3e3389aa854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400" y="1881398"/>
            <a:ext cx="7908975" cy="174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87f39fe4b_0_162"/>
          <p:cNvSpPr/>
          <p:nvPr/>
        </p:nvSpPr>
        <p:spPr>
          <a:xfrm>
            <a:off x="89659" y="59842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g3a87f39fe4b_0_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950" y="1056367"/>
            <a:ext cx="8839201" cy="30856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E6575927-9253-4CD2-49E1-4B5A3A2F6D3E}"/>
              </a:ext>
            </a:extLst>
          </p:cNvPr>
          <p:cNvCxnSpPr/>
          <p:nvPr/>
        </p:nvCxnSpPr>
        <p:spPr>
          <a:xfrm>
            <a:off x="-28941" y="2025445"/>
            <a:ext cx="481781" cy="137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87f39fe4b_0_17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Entropia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a87f39fe4b_0_173"/>
          <p:cNvSpPr/>
          <p:nvPr/>
        </p:nvSpPr>
        <p:spPr>
          <a:xfrm>
            <a:off x="383459" y="1444600"/>
            <a:ext cx="8229300" cy="12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Medida de confusão, incerteza ou desordem.</a:t>
            </a:r>
            <a:endParaRPr/>
          </a:p>
          <a:p>
            <a:pPr marL="343080" marR="0" lvl="4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Muitos modelos baseiam-se nessa métrica.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4" name="Google Shape;244;g3a87f39fe4b_0_1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0979" y="2723536"/>
            <a:ext cx="5978012" cy="3263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87f39fe4b_0_168"/>
          <p:cNvSpPr/>
          <p:nvPr/>
        </p:nvSpPr>
        <p:spPr>
          <a:xfrm>
            <a:off x="89659" y="59842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g3a87f39fe4b_0_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7192"/>
            <a:ext cx="8839199" cy="34076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B1E2182B-E728-1691-5333-422DE339217B}"/>
              </a:ext>
            </a:extLst>
          </p:cNvPr>
          <p:cNvCxnSpPr/>
          <p:nvPr/>
        </p:nvCxnSpPr>
        <p:spPr>
          <a:xfrm>
            <a:off x="34997" y="2969342"/>
            <a:ext cx="234806" cy="216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87f39fe4b_0_232"/>
          <p:cNvSpPr/>
          <p:nvPr/>
        </p:nvSpPr>
        <p:spPr>
          <a:xfrm>
            <a:off x="89659" y="59842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g3a87f39fe4b_0_2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8842"/>
            <a:ext cx="8686800" cy="3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87f39fe4b_0_238"/>
          <p:cNvSpPr/>
          <p:nvPr/>
        </p:nvSpPr>
        <p:spPr>
          <a:xfrm>
            <a:off x="89659" y="59842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g3a87f39fe4b_0_2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155"/>
            <a:ext cx="8839201" cy="3158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869BA524-5D84-CE2B-8D38-3E278C79733F}"/>
              </a:ext>
            </a:extLst>
          </p:cNvPr>
          <p:cNvCxnSpPr/>
          <p:nvPr/>
        </p:nvCxnSpPr>
        <p:spPr>
          <a:xfrm>
            <a:off x="89659" y="2644877"/>
            <a:ext cx="234806" cy="216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87f39fe4b_0_244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PCA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a87f39fe4b_0_244"/>
          <p:cNvSpPr/>
          <p:nvPr/>
        </p:nvSpPr>
        <p:spPr>
          <a:xfrm>
            <a:off x="75775" y="1553750"/>
            <a:ext cx="8760600" cy="20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Técnica estatística para redução de dimensionalidade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Usada em feature engineering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87f39fe4b_0_301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PCA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g3a87f39fe4b_0_3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567" y="1542030"/>
            <a:ext cx="28384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a87f39fe4b_0_3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3968" y="1836553"/>
            <a:ext cx="2857500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a87f39fe4b_0_301"/>
          <p:cNvSpPr/>
          <p:nvPr/>
        </p:nvSpPr>
        <p:spPr>
          <a:xfrm>
            <a:off x="4049303" y="2778938"/>
            <a:ext cx="1329900" cy="51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3a87f39fe4b_0_301"/>
          <p:cNvSpPr txBox="1"/>
          <p:nvPr/>
        </p:nvSpPr>
        <p:spPr>
          <a:xfrm>
            <a:off x="4090700" y="2411713"/>
            <a:ext cx="112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Projeção</a:t>
            </a:r>
            <a:endParaRPr sz="1800"/>
          </a:p>
        </p:txBody>
      </p:sp>
      <p:sp>
        <p:nvSpPr>
          <p:cNvPr id="280" name="Google Shape;280;g3a87f39fe4b_0_301"/>
          <p:cNvSpPr txBox="1"/>
          <p:nvPr/>
        </p:nvSpPr>
        <p:spPr>
          <a:xfrm>
            <a:off x="901650" y="4181695"/>
            <a:ext cx="261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x1 e x2 correlacionadas</a:t>
            </a:r>
            <a:endParaRPr sz="1800"/>
          </a:p>
        </p:txBody>
      </p:sp>
      <p:sp>
        <p:nvSpPr>
          <p:cNvPr id="281" name="Google Shape;281;g3a87f39fe4b_0_301"/>
          <p:cNvSpPr txBox="1"/>
          <p:nvPr/>
        </p:nvSpPr>
        <p:spPr>
          <a:xfrm>
            <a:off x="5887405" y="4181695"/>
            <a:ext cx="2610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x1’ e x2’ não correlacionadas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87f39fe4b_0_31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PCA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a87f39fe4b_0_312"/>
          <p:cNvSpPr/>
          <p:nvPr/>
        </p:nvSpPr>
        <p:spPr>
          <a:xfrm>
            <a:off x="4049303" y="1975033"/>
            <a:ext cx="1329900" cy="51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3a87f39fe4b_0_312"/>
          <p:cNvSpPr txBox="1"/>
          <p:nvPr/>
        </p:nvSpPr>
        <p:spPr>
          <a:xfrm>
            <a:off x="3832650" y="1568120"/>
            <a:ext cx="218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Descartando x2’</a:t>
            </a:r>
            <a:endParaRPr sz="1800"/>
          </a:p>
        </p:txBody>
      </p:sp>
      <p:pic>
        <p:nvPicPr>
          <p:cNvPr id="290" name="Google Shape;290;g3a87f39fe4b_0_3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463" y="1114155"/>
            <a:ext cx="2771775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3a87f39fe4b_0_3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7400" y="1204643"/>
            <a:ext cx="24003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3a87f39fe4b_0_312"/>
          <p:cNvSpPr/>
          <p:nvPr/>
        </p:nvSpPr>
        <p:spPr>
          <a:xfrm>
            <a:off x="4171928" y="4459733"/>
            <a:ext cx="1329900" cy="51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3a87f39fe4b_0_312"/>
          <p:cNvSpPr txBox="1"/>
          <p:nvPr/>
        </p:nvSpPr>
        <p:spPr>
          <a:xfrm>
            <a:off x="3955275" y="4052820"/>
            <a:ext cx="218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Descartando x1’</a:t>
            </a:r>
            <a:endParaRPr sz="1800"/>
          </a:p>
        </p:txBody>
      </p:sp>
      <p:pic>
        <p:nvPicPr>
          <p:cNvPr id="294" name="Google Shape;294;g3a87f39fe4b_0_3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088" y="3598855"/>
            <a:ext cx="2771775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g3a87f39fe4b_0_3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1213" y="3434293"/>
            <a:ext cx="235267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87f39fe4b_0_325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PCA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g3a87f39fe4b_0_3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3600" y="745698"/>
            <a:ext cx="3996150" cy="536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7f39fe4b_0_382"/>
          <p:cNvSpPr/>
          <p:nvPr/>
        </p:nvSpPr>
        <p:spPr>
          <a:xfrm>
            <a:off x="89659" y="59842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g3a87f39fe4b_0_3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900" y="381067"/>
            <a:ext cx="8276069" cy="59767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A26C2814-E287-0C78-566A-BDE35DBE636B}"/>
              </a:ext>
            </a:extLst>
          </p:cNvPr>
          <p:cNvCxnSpPr/>
          <p:nvPr/>
        </p:nvCxnSpPr>
        <p:spPr>
          <a:xfrm>
            <a:off x="155424" y="4404851"/>
            <a:ext cx="481781" cy="137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87f39fe4b_0_388"/>
          <p:cNvSpPr/>
          <p:nvPr/>
        </p:nvSpPr>
        <p:spPr>
          <a:xfrm>
            <a:off x="89659" y="59842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g3a87f39fe4b_0_3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825" y="604829"/>
            <a:ext cx="5895975" cy="564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87f39fe4b_0_399"/>
          <p:cNvSpPr/>
          <p:nvPr/>
        </p:nvSpPr>
        <p:spPr>
          <a:xfrm>
            <a:off x="89659" y="59842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g3a87f39fe4b_0_3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50" y="576442"/>
            <a:ext cx="8839197" cy="4815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g3a87f39fe4b_0_3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250" y="5344225"/>
            <a:ext cx="1035050" cy="1215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42BA9298-C09D-DA2B-D021-762AC56674F3}"/>
              </a:ext>
            </a:extLst>
          </p:cNvPr>
          <p:cNvCxnSpPr/>
          <p:nvPr/>
        </p:nvCxnSpPr>
        <p:spPr>
          <a:xfrm>
            <a:off x="-181338" y="5344225"/>
            <a:ext cx="481781" cy="137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87f39fe4b_0_407"/>
          <p:cNvSpPr/>
          <p:nvPr/>
        </p:nvSpPr>
        <p:spPr>
          <a:xfrm>
            <a:off x="89659" y="59842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g3a87f39fe4b_0_4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8842"/>
            <a:ext cx="823912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87f39fe4b_0_414"/>
          <p:cNvSpPr/>
          <p:nvPr/>
        </p:nvSpPr>
        <p:spPr>
          <a:xfrm>
            <a:off x="89659" y="59842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g3a87f39fe4b_0_4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8842"/>
            <a:ext cx="8839199" cy="2747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8B80EDC9-1FDA-2270-29D8-0B9698C05273}"/>
              </a:ext>
            </a:extLst>
          </p:cNvPr>
          <p:cNvCxnSpPr/>
          <p:nvPr/>
        </p:nvCxnSpPr>
        <p:spPr>
          <a:xfrm>
            <a:off x="-151232" y="2674374"/>
            <a:ext cx="481781" cy="137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a87f39fe4b_0_484"/>
          <p:cNvSpPr/>
          <p:nvPr/>
        </p:nvSpPr>
        <p:spPr>
          <a:xfrm>
            <a:off x="89659" y="59842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g3a87f39fe4b_0_4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83867"/>
            <a:ext cx="8839200" cy="1657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87f39fe4b_0_427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Naive Byes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a87f39fe4b_0_427"/>
          <p:cNvSpPr/>
          <p:nvPr/>
        </p:nvSpPr>
        <p:spPr>
          <a:xfrm>
            <a:off x="275050" y="794235"/>
            <a:ext cx="8229300" cy="40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Classificador Bayesiano com uma suposição ingênua (naive)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Suposição de que as variáveis são independentes entre si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Apesar de na maioria dos casos essa suposição não ser verdadeira, os resultados dela são úteis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87f39fe4b_0_421"/>
          <p:cNvSpPr/>
          <p:nvPr/>
        </p:nvSpPr>
        <p:spPr>
          <a:xfrm>
            <a:off x="89659" y="59842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g3a87f39fe4b_0_4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8850"/>
            <a:ext cx="8991599" cy="2657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87f39fe4b_0_490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Árvore de Decisão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a87f39fe4b_0_490"/>
          <p:cNvSpPr/>
          <p:nvPr/>
        </p:nvSpPr>
        <p:spPr>
          <a:xfrm>
            <a:off x="196646" y="587660"/>
            <a:ext cx="82293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Principais hiperparâmetros</a:t>
            </a: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1906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0" name="Google Shape;360;g3a87f39fe4b_0_490"/>
          <p:cNvSpPr/>
          <p:nvPr/>
        </p:nvSpPr>
        <p:spPr>
          <a:xfrm>
            <a:off x="383459" y="1444599"/>
            <a:ext cx="82293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max_depth (</a:t>
            </a:r>
            <a:r>
              <a:rPr lang="pt-BR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altura máxima da árvore</a:t>
            </a: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/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min_samples_split (</a:t>
            </a:r>
            <a:r>
              <a:rPr lang="pt-BR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um nó pode dividir</a:t>
            </a: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/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min_samples_leaf (</a:t>
            </a:r>
            <a:r>
              <a:rPr lang="pt-BR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tamanho mínimo das folhas</a:t>
            </a: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/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criterion</a:t>
            </a: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ccp_alpha</a:t>
            </a: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61" name="Google Shape;361;g3a87f39fe4b_0_4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599" y="3556474"/>
            <a:ext cx="7645710" cy="2713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6eb4f487f_0_308"/>
          <p:cNvSpPr/>
          <p:nvPr/>
        </p:nvSpPr>
        <p:spPr>
          <a:xfrm>
            <a:off x="2060710" y="3130035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FIM 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Apresentação na tela (4:3)</PresentationFormat>
  <Paragraphs>93</Paragraphs>
  <Slides>28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Arial</vt:lpstr>
      <vt:lpstr>Calibri</vt:lpstr>
      <vt:lpstr>Times New Roman</vt:lpstr>
      <vt:lpstr>Verdana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Victor Akio Zukeran</dc:creator>
  <cp:lastModifiedBy>Kaique Almeida Justino da Silva</cp:lastModifiedBy>
  <cp:revision>1</cp:revision>
  <dcterms:created xsi:type="dcterms:W3CDTF">2013-10-10T17:31:52Z</dcterms:created>
  <dcterms:modified xsi:type="dcterms:W3CDTF">2026-05-21T13:27:27Z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0x01010073806014F133DA42B05483D3695C6CCB</vt:lpwstr>
  </property>
  <property fmtid="{D5CDD505-2E9C-101B-9397-08002B2CF9AE}" pid="3" name="HiddenSlides">
    <vt:i4>1</vt:i4>
  </property>
  <property fmtid="{D5CDD505-2E9C-101B-9397-08002B2CF9AE}" pid="4" name="Notes">
    <vt:i4>1</vt:i4>
  </property>
  <property fmtid="{D5CDD505-2E9C-101B-9397-08002B2CF9AE}" pid="5" name="PresentationFormat">
    <vt:lpwstr>Apresentação na tela (4:3)</vt:lpwstr>
  </property>
  <property fmtid="{D5CDD505-2E9C-101B-9397-08002B2CF9AE}" pid="6" name="Slides">
    <vt:i4>27</vt:i4>
  </property>
</Properties>
</file>